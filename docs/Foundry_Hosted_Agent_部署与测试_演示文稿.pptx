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DB07CA-D982-4263-AD5F-F8AC04DD462F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7F1EDF-BF23-4F36-B155-B78D20D14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131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开场建议（约 </a:t>
            </a:r>
            <a:r>
              <a:rPr lang="en-US" altLang="zh-CN"/>
              <a:t>2 </a:t>
            </a:r>
            <a:r>
              <a:rPr lang="zh-CN" altLang="en-US"/>
              <a:t>分钟）</a:t>
            </a:r>
          </a:p>
          <a:p>
            <a:r>
              <a:rPr lang="zh-CN" altLang="en-US"/>
              <a:t>今天不把“部署成功”当作终点，而是建立一条可重复的证据链：代码能够被托管、版本能够被调用、质量与安全能够被验证、运行状态能够被持续观察。</a:t>
            </a:r>
          </a:p>
          <a:p>
            <a:endParaRPr lang="zh-CN" altLang="en-US"/>
          </a:p>
          <a:p>
            <a:r>
              <a:rPr lang="en-US" altLang="zh-CN"/>
              <a:t>Hosted Agent</a:t>
            </a:r>
            <a:r>
              <a:rPr lang="zh-CN" altLang="en-US"/>
              <a:t>（托管 </a:t>
            </a:r>
            <a:r>
              <a:rPr lang="en-US" altLang="zh-CN"/>
              <a:t>Agent</a:t>
            </a:r>
            <a:r>
              <a:rPr lang="zh-CN" altLang="en-US"/>
              <a:t>）指由 </a:t>
            </a:r>
            <a:r>
              <a:rPr lang="en-US" altLang="zh-CN"/>
              <a:t>Foundry </a:t>
            </a:r>
            <a:r>
              <a:rPr lang="zh-CN" altLang="en-US"/>
              <a:t>承载自定义代码和依赖，并通过版本化协议端点提供服务的 </a:t>
            </a:r>
            <a:r>
              <a:rPr lang="en-US" altLang="zh-CN"/>
              <a:t>Agent</a:t>
            </a:r>
            <a:r>
              <a:rPr lang="zh-CN" altLang="en-US"/>
              <a:t>。整场内容以一个已经可以在本地运行的 </a:t>
            </a:r>
            <a:r>
              <a:rPr lang="en-US" altLang="zh-CN"/>
              <a:t>Microsoft Agent Framework Agent </a:t>
            </a:r>
            <a:r>
              <a:rPr lang="zh-CN" altLang="en-US"/>
              <a:t>为起点。</a:t>
            </a:r>
          </a:p>
          <a:p>
            <a:endParaRPr lang="zh-CN" altLang="en-US"/>
          </a:p>
          <a:p>
            <a:r>
              <a:rPr lang="zh-CN" altLang="en-US"/>
              <a:t>转场：先明确起点与目标，再看完整运行链路。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F1EDF-BF23-4F36-B155-B78D20D14AC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34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本页约 </a:t>
            </a:r>
            <a:r>
              <a:rPr lang="en-US" altLang="zh-CN"/>
              <a:t>2 </a:t>
            </a:r>
            <a:r>
              <a:rPr lang="zh-CN" altLang="en-US"/>
              <a:t>分钟。第一，如何在不重写业务逻辑的情况下托管 </a:t>
            </a:r>
            <a:r>
              <a:rPr lang="en-US" altLang="zh-CN"/>
              <a:t>Agent</a:t>
            </a:r>
            <a:r>
              <a:rPr lang="zh-CN" altLang="en-US"/>
              <a:t>。第二，如何证明它不仅“能回答”，而且协议、身份、版本、安全和性能均符合预期。第三，如何用 </a:t>
            </a:r>
            <a:r>
              <a:rPr lang="en-US" altLang="zh-CN"/>
              <a:t>Trace</a:t>
            </a:r>
            <a:r>
              <a:rPr lang="zh-CN" altLang="en-US"/>
              <a:t>、</a:t>
            </a:r>
            <a:r>
              <a:rPr lang="en-US" altLang="zh-CN"/>
              <a:t>Monitor</a:t>
            </a:r>
            <a:r>
              <a:rPr lang="zh-CN" altLang="en-US"/>
              <a:t>、持续评估和告警把一次部署变成可运营服务。</a:t>
            </a:r>
          </a:p>
          <a:p>
            <a:endParaRPr lang="zh-CN" altLang="en-US"/>
          </a:p>
          <a:p>
            <a:r>
              <a:rPr lang="zh-CN" altLang="en-US"/>
              <a:t>建议告诉听众：命令细节在手册，现场重点讲判断方法和证据类型。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F1EDF-BF23-4F36-B155-B78D20D14AC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28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本页约 </a:t>
            </a:r>
            <a:r>
              <a:rPr lang="en-US" altLang="zh-CN"/>
              <a:t>2 </a:t>
            </a:r>
            <a:r>
              <a:rPr lang="zh-CN" altLang="en-US"/>
              <a:t>分钟。托管不是业务重写。应保留已有 </a:t>
            </a:r>
            <a:r>
              <a:rPr lang="en-US" altLang="zh-CN"/>
              <a:t>Agent</a:t>
            </a:r>
            <a:r>
              <a:rPr lang="zh-CN" altLang="en-US"/>
              <a:t>、</a:t>
            </a:r>
            <a:r>
              <a:rPr lang="en-US" altLang="zh-CN"/>
              <a:t>Tool</a:t>
            </a:r>
            <a:r>
              <a:rPr lang="zh-CN" altLang="en-US"/>
              <a:t>、</a:t>
            </a:r>
            <a:r>
              <a:rPr lang="en-US" altLang="zh-CN"/>
              <a:t>Workflow</a:t>
            </a:r>
            <a:r>
              <a:rPr lang="zh-CN" altLang="en-US"/>
              <a:t>、系统指令与业务测试，只新增 </a:t>
            </a:r>
            <a:r>
              <a:rPr lang="en-US" altLang="zh-CN"/>
              <a:t>Hosting Adapter</a:t>
            </a:r>
            <a:r>
              <a:rPr lang="zh-CN" altLang="en-US"/>
              <a:t>、</a:t>
            </a:r>
            <a:r>
              <a:rPr lang="en-US" altLang="zh-CN"/>
              <a:t>Manifest</a:t>
            </a:r>
            <a:r>
              <a:rPr lang="zh-CN" altLang="en-US"/>
              <a:t>、部署配置和平台观测。</a:t>
            </a:r>
          </a:p>
          <a:p>
            <a:endParaRPr lang="zh-CN" altLang="en-US"/>
          </a:p>
          <a:p>
            <a:r>
              <a:rPr lang="en-US" altLang="zh-CN"/>
              <a:t>MAF</a:t>
            </a:r>
            <a:r>
              <a:rPr lang="zh-CN" altLang="en-US"/>
              <a:t>（</a:t>
            </a:r>
            <a:r>
              <a:rPr lang="en-US" altLang="zh-CN"/>
              <a:t>Microsoft Agent Framework</a:t>
            </a:r>
            <a:r>
              <a:rPr lang="zh-CN" altLang="en-US"/>
              <a:t>）负责 </a:t>
            </a:r>
            <a:r>
              <a:rPr lang="en-US" altLang="zh-CN"/>
              <a:t>Agent </a:t>
            </a:r>
            <a:r>
              <a:rPr lang="zh-CN" altLang="en-US"/>
              <a:t>编排与执行；</a:t>
            </a:r>
            <a:r>
              <a:rPr lang="en-US" altLang="zh-CN"/>
              <a:t>Hosting Adapter</a:t>
            </a:r>
            <a:r>
              <a:rPr lang="zh-CN" altLang="en-US"/>
              <a:t>（托管适配器）负责把已有 </a:t>
            </a:r>
            <a:r>
              <a:rPr lang="en-US" altLang="zh-CN"/>
              <a:t>Agent </a:t>
            </a:r>
            <a:r>
              <a:rPr lang="zh-CN" altLang="en-US"/>
              <a:t>暴露为 </a:t>
            </a:r>
            <a:r>
              <a:rPr lang="en-US" altLang="zh-CN"/>
              <a:t>Foundry </a:t>
            </a:r>
            <a:r>
              <a:rPr lang="zh-CN" altLang="en-US"/>
              <a:t>支持的协议服务。</a:t>
            </a:r>
          </a:p>
          <a:p>
            <a:endParaRPr lang="zh-CN" altLang="en-US"/>
          </a:p>
          <a:p>
            <a:r>
              <a:rPr lang="zh-CN" altLang="en-US"/>
              <a:t>强调：如果本地业务流程尚未稳定，直接托管只会把业务问题和环境问题混在一起。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F1EDF-BF23-4F36-B155-B78D20D14AC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870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本页约 </a:t>
            </a:r>
            <a:r>
              <a:rPr lang="en-US" altLang="zh-CN"/>
              <a:t>2 </a:t>
            </a:r>
            <a:r>
              <a:rPr lang="zh-CN" altLang="en-US"/>
              <a:t>分钟。请求进入 </a:t>
            </a:r>
            <a:r>
              <a:rPr lang="en-US"/>
              <a:t>Foundry Responses Endpoint，</a:t>
            </a:r>
            <a:r>
              <a:rPr lang="zh-CN" altLang="en-US"/>
              <a:t>经 </a:t>
            </a:r>
            <a:r>
              <a:rPr lang="en-US"/>
              <a:t>ResponsesHostServer </a:t>
            </a:r>
            <a:r>
              <a:rPr lang="zh-CN" altLang="en-US"/>
              <a:t>转交给 </a:t>
            </a:r>
            <a:r>
              <a:rPr lang="en-US"/>
              <a:t>MAF Agent，</a:t>
            </a:r>
            <a:r>
              <a:rPr lang="zh-CN" altLang="en-US"/>
              <a:t>再由 </a:t>
            </a:r>
            <a:r>
              <a:rPr lang="en-US"/>
              <a:t>FoundryChatClient </a:t>
            </a:r>
            <a:r>
              <a:rPr lang="zh-CN" altLang="en-US"/>
              <a:t>调用项目中的模型部署。模型或 </a:t>
            </a:r>
            <a:r>
              <a:rPr lang="en-US"/>
              <a:t>Tool </a:t>
            </a:r>
            <a:r>
              <a:rPr lang="zh-CN" altLang="en-US"/>
              <a:t>的 </a:t>
            </a:r>
            <a:r>
              <a:rPr lang="en-US"/>
              <a:t>Span </a:t>
            </a:r>
            <a:r>
              <a:rPr lang="zh-CN" altLang="en-US"/>
              <a:t>最终进入 </a:t>
            </a:r>
            <a:r>
              <a:rPr lang="en-US"/>
              <a:t>Application Insights，</a:t>
            </a:r>
            <a:r>
              <a:rPr lang="zh-CN" altLang="en-US"/>
              <a:t>并由 </a:t>
            </a:r>
            <a:r>
              <a:rPr lang="en-US"/>
              <a:t>Foundry Trace </a:t>
            </a:r>
            <a:r>
              <a:rPr lang="zh-CN" altLang="en-US"/>
              <a:t>与 </a:t>
            </a:r>
            <a:r>
              <a:rPr lang="en-US"/>
              <a:t>Monitor </a:t>
            </a:r>
            <a:r>
              <a:rPr lang="zh-CN" altLang="en-US"/>
              <a:t>展示。</a:t>
            </a:r>
          </a:p>
          <a:p>
            <a:endParaRPr lang="zh-CN" altLang="en-US"/>
          </a:p>
          <a:p>
            <a:r>
              <a:rPr lang="en-US"/>
              <a:t>ResponsesHostServer </a:t>
            </a:r>
            <a:r>
              <a:rPr lang="zh-CN" altLang="en-US"/>
              <a:t>是本示例的 </a:t>
            </a:r>
            <a:r>
              <a:rPr lang="en-US"/>
              <a:t>MAF Responses </a:t>
            </a:r>
            <a:r>
              <a:rPr lang="zh-CN" altLang="en-US"/>
              <a:t>协议适配器，不是所有 </a:t>
            </a:r>
            <a:r>
              <a:rPr lang="en-US"/>
              <a:t>Hosted Agent </a:t>
            </a:r>
            <a:r>
              <a:rPr lang="zh-CN" altLang="en-US"/>
              <a:t>的唯一实现。</a:t>
            </a:r>
          </a:p>
          <a:p>
            <a:endParaRPr lang="zh-CN" altLang="en-US"/>
          </a:p>
          <a:p>
            <a:r>
              <a:rPr lang="en-US"/>
              <a:t>Span（</a:t>
            </a:r>
            <a:r>
              <a:rPr lang="zh-CN" altLang="en-US"/>
              <a:t>跨度）是 </a:t>
            </a:r>
            <a:r>
              <a:rPr lang="en-US"/>
              <a:t>OpenTelemetry </a:t>
            </a:r>
            <a:r>
              <a:rPr lang="zh-CN" altLang="en-US"/>
              <a:t>调用链中的一个计时单元，例如一次 </a:t>
            </a:r>
            <a:r>
              <a:rPr lang="en-US"/>
              <a:t>Agent </a:t>
            </a:r>
            <a:r>
              <a:rPr lang="zh-CN" altLang="en-US"/>
              <a:t>调用、模型调用或 </a:t>
            </a:r>
            <a:r>
              <a:rPr lang="en-US"/>
              <a:t>Tool </a:t>
            </a:r>
            <a:r>
              <a:rPr lang="zh-CN" altLang="en-US"/>
              <a:t>调用。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F1EDF-BF23-4F36-B155-B78D20D14AC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151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本页约 </a:t>
            </a:r>
            <a:r>
              <a:rPr lang="en-US" altLang="zh-CN"/>
              <a:t>2 </a:t>
            </a:r>
            <a:r>
              <a:rPr lang="zh-CN" altLang="en-US"/>
              <a:t>分钟。先判断问题属于业务逻辑、协议适配、托管运行时还是观测平台，可以显著缩短排障路径。</a:t>
            </a:r>
          </a:p>
          <a:p>
            <a:endParaRPr lang="zh-CN" altLang="en-US"/>
          </a:p>
          <a:p>
            <a:r>
              <a:rPr lang="en-US" altLang="zh-CN"/>
              <a:t>Hosted Span</a:t>
            </a:r>
            <a:r>
              <a:rPr lang="zh-CN" altLang="en-US"/>
              <a:t>（托管外层 </a:t>
            </a:r>
            <a:r>
              <a:rPr lang="en-US" altLang="zh-CN"/>
              <a:t>Span</a:t>
            </a:r>
            <a:r>
              <a:rPr lang="zh-CN" altLang="en-US"/>
              <a:t>）是代表一次 </a:t>
            </a:r>
            <a:r>
              <a:rPr lang="en-US" altLang="zh-CN"/>
              <a:t>Hosted Agent Response </a:t>
            </a:r>
            <a:r>
              <a:rPr lang="zh-CN" altLang="en-US"/>
              <a:t>的外层调用记录。它需要携带项目、</a:t>
            </a:r>
            <a:r>
              <a:rPr lang="en-US" altLang="zh-CN"/>
              <a:t>Agent </a:t>
            </a:r>
            <a:r>
              <a:rPr lang="zh-CN" altLang="en-US"/>
              <a:t>版本、</a:t>
            </a:r>
            <a:r>
              <a:rPr lang="en-US" altLang="zh-CN"/>
              <a:t>Response ID </a:t>
            </a:r>
            <a:r>
              <a:rPr lang="zh-CN" altLang="en-US"/>
              <a:t>等关联属性，</a:t>
            </a:r>
            <a:r>
              <a:rPr lang="en-US" altLang="zh-CN"/>
              <a:t>Foundry Portal </a:t>
            </a:r>
            <a:r>
              <a:rPr lang="zh-CN" altLang="en-US"/>
              <a:t>才能把底层遥测归入正确的 </a:t>
            </a:r>
            <a:r>
              <a:rPr lang="en-US" altLang="zh-CN"/>
              <a:t>Agent </a:t>
            </a:r>
            <a:r>
              <a:rPr lang="zh-CN" altLang="en-US"/>
              <a:t>和版本。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F1EDF-BF23-4F36-B155-B78D20D14AC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584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本页约 </a:t>
            </a:r>
            <a:r>
              <a:rPr lang="en-US" altLang="zh-CN"/>
              <a:t>2 </a:t>
            </a:r>
            <a:r>
              <a:rPr lang="zh-CN" altLang="en-US"/>
              <a:t>分钟。</a:t>
            </a:r>
            <a:r>
              <a:rPr lang="en-US" altLang="zh-CN"/>
              <a:t>Responses </a:t>
            </a:r>
            <a:r>
              <a:rPr lang="zh-CN" altLang="en-US"/>
              <a:t>适合标准对话、多轮上下文、</a:t>
            </a:r>
            <a:r>
              <a:rPr lang="en-US" altLang="zh-CN"/>
              <a:t>RAG </a:t>
            </a:r>
            <a:r>
              <a:rPr lang="zh-CN" altLang="en-US"/>
              <a:t>与 </a:t>
            </a:r>
            <a:r>
              <a:rPr lang="en-US" altLang="zh-CN"/>
              <a:t>Tool</a:t>
            </a:r>
            <a:r>
              <a:rPr lang="zh-CN" altLang="en-US"/>
              <a:t>；</a:t>
            </a:r>
            <a:r>
              <a:rPr lang="en-US" altLang="zh-CN"/>
              <a:t>Invocations </a:t>
            </a:r>
            <a:r>
              <a:rPr lang="zh-CN" altLang="en-US"/>
              <a:t>适合任意 </a:t>
            </a:r>
            <a:r>
              <a:rPr lang="en-US" altLang="zh-CN"/>
              <a:t>JSON</a:t>
            </a:r>
            <a:r>
              <a:rPr lang="zh-CN" altLang="en-US"/>
              <a:t>、</a:t>
            </a:r>
            <a:r>
              <a:rPr lang="en-US" altLang="zh-CN"/>
              <a:t>Webhook </a:t>
            </a:r>
            <a:r>
              <a:rPr lang="zh-CN" altLang="en-US"/>
              <a:t>或自定义流式入口。代码实现、</a:t>
            </a:r>
            <a:r>
              <a:rPr lang="en-US" altLang="zh-CN"/>
              <a:t>azure.yaml </a:t>
            </a:r>
            <a:r>
              <a:rPr lang="zh-CN" altLang="en-US"/>
              <a:t>协议声明和调用客户端必须一致。</a:t>
            </a:r>
          </a:p>
          <a:p>
            <a:endParaRPr lang="zh-CN" altLang="en-US"/>
          </a:p>
          <a:p>
            <a:r>
              <a:rPr lang="en-US" altLang="zh-CN"/>
              <a:t>Responses</a:t>
            </a:r>
            <a:r>
              <a:rPr lang="zh-CN" altLang="en-US"/>
              <a:t>（响应协议）提供与 </a:t>
            </a:r>
            <a:r>
              <a:rPr lang="en-US" altLang="zh-CN"/>
              <a:t>OpenAI Responses </a:t>
            </a:r>
            <a:r>
              <a:rPr lang="zh-CN" altLang="en-US"/>
              <a:t>风格兼容的调用与流式事件。</a:t>
            </a:r>
            <a:r>
              <a:rPr lang="en-US" altLang="zh-CN"/>
              <a:t>Invocations</a:t>
            </a:r>
            <a:r>
              <a:rPr lang="zh-CN" altLang="en-US"/>
              <a:t>（调用协议）更适合非对话型、自定义输入输出的服务入口。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F1EDF-BF23-4F36-B155-B78D20D14AC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436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本页约 </a:t>
            </a:r>
            <a:r>
              <a:rPr lang="en-US" altLang="zh-CN"/>
              <a:t>2 </a:t>
            </a:r>
            <a:r>
              <a:rPr lang="zh-CN" altLang="en-US"/>
              <a:t>分钟。</a:t>
            </a:r>
            <a:r>
              <a:rPr lang="en-US" altLang="zh-CN"/>
              <a:t>create_agent() </a:t>
            </a:r>
            <a:r>
              <a:rPr lang="zh-CN" altLang="en-US"/>
              <a:t>保留原实现，</a:t>
            </a:r>
            <a:r>
              <a:rPr lang="en-US" altLang="zh-CN"/>
              <a:t>ResponsesHostServer </a:t>
            </a:r>
            <a:r>
              <a:rPr lang="zh-CN" altLang="en-US"/>
              <a:t>负责协议服务与托管适配。入口启动时不应等待交互输入，也不应依赖开发机专属文件。</a:t>
            </a:r>
          </a:p>
          <a:p>
            <a:endParaRPr lang="zh-CN" altLang="en-US"/>
          </a:p>
          <a:p>
            <a:r>
              <a:rPr lang="en-US" altLang="zh-CN"/>
              <a:t>Adapter</a:t>
            </a:r>
            <a:r>
              <a:rPr lang="zh-CN" altLang="en-US"/>
              <a:t>（适配器）是把一个接口转换为另一个接口的薄层。它不应复制业务代码，否则本地版本与托管版本会逐渐分叉。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F1EDF-BF23-4F36-B155-B78D20D14AC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5694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本页约 </a:t>
            </a:r>
            <a:r>
              <a:rPr lang="en-US" altLang="zh-CN"/>
              <a:t>2 </a:t>
            </a:r>
            <a:r>
              <a:rPr lang="zh-CN" altLang="en-US"/>
              <a:t>分钟。本地开发通常由 </a:t>
            </a:r>
            <a:r>
              <a:rPr lang="en-US"/>
              <a:t>Azure CLI </a:t>
            </a:r>
            <a:r>
              <a:rPr lang="zh-CN" altLang="en-US"/>
              <a:t>或 </a:t>
            </a:r>
            <a:r>
              <a:rPr lang="en-US"/>
              <a:t>VS Code </a:t>
            </a:r>
            <a:r>
              <a:rPr lang="zh-CN" altLang="en-US"/>
              <a:t>身份支持 </a:t>
            </a:r>
            <a:r>
              <a:rPr lang="en-US"/>
              <a:t>DefaultAzureCredential；</a:t>
            </a:r>
            <a:r>
              <a:rPr lang="zh-CN" altLang="en-US"/>
              <a:t>托管环境使用 </a:t>
            </a:r>
            <a:r>
              <a:rPr lang="en-US"/>
              <a:t>Managed Identity </a:t>
            </a:r>
            <a:r>
              <a:rPr lang="zh-CN" altLang="en-US"/>
              <a:t>和 </a:t>
            </a:r>
            <a:r>
              <a:rPr lang="en-US"/>
              <a:t>RBAC。Endpoint、</a:t>
            </a:r>
            <a:r>
              <a:rPr lang="zh-CN" altLang="en-US"/>
              <a:t>模型部署名和 </a:t>
            </a:r>
            <a:r>
              <a:rPr lang="en-US"/>
              <a:t>Tool </a:t>
            </a:r>
            <a:r>
              <a:rPr lang="zh-CN" altLang="en-US"/>
              <a:t>配置来自环境变量，禁止硬编码 </a:t>
            </a:r>
            <a:r>
              <a:rPr lang="en-US"/>
              <a:t>Token </a:t>
            </a:r>
            <a:r>
              <a:rPr lang="zh-CN" altLang="en-US"/>
              <a:t>或 </a:t>
            </a:r>
            <a:r>
              <a:rPr lang="en-US"/>
              <a:t>API Key。</a:t>
            </a:r>
          </a:p>
          <a:p>
            <a:endParaRPr lang="en-US"/>
          </a:p>
          <a:p>
            <a:r>
              <a:rPr lang="en-US"/>
              <a:t>Managed Identity（</a:t>
            </a:r>
            <a:r>
              <a:rPr lang="zh-CN" altLang="en-US"/>
              <a:t>托管身份）是 </a:t>
            </a:r>
            <a:r>
              <a:rPr lang="en-US"/>
              <a:t>Azure </a:t>
            </a:r>
            <a:r>
              <a:rPr lang="zh-CN" altLang="en-US"/>
              <a:t>为资源提供的 </a:t>
            </a:r>
            <a:r>
              <a:rPr lang="en-US"/>
              <a:t>Entra </a:t>
            </a:r>
            <a:r>
              <a:rPr lang="zh-CN" altLang="en-US"/>
              <a:t>身份，无需在代码中保存凭据。</a:t>
            </a:r>
            <a:r>
              <a:rPr lang="en-US"/>
              <a:t>RBAC（</a:t>
            </a:r>
            <a:r>
              <a:rPr lang="zh-CN" altLang="en-US"/>
              <a:t>基于角色的访问控制）决定该身份能访问哪些资源和动作。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F1EDF-BF23-4F36-B155-B78D20D14AC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0988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本页约 </a:t>
            </a:r>
            <a:r>
              <a:rPr lang="en-US" altLang="zh-CN"/>
              <a:t>2 </a:t>
            </a:r>
            <a:r>
              <a:rPr lang="zh-CN" altLang="en-US"/>
              <a:t>分钟。</a:t>
            </a:r>
            <a:r>
              <a:rPr lang="en-US" altLang="zh-CN"/>
              <a:t>Manifest </a:t>
            </a:r>
            <a:r>
              <a:rPr lang="zh-CN" altLang="en-US"/>
              <a:t>同时声明服务代码目录、入口、运行时、资源规格、模型部署、协议和 </a:t>
            </a:r>
            <a:r>
              <a:rPr lang="en-US" altLang="zh-CN"/>
              <a:t>Guardrail</a:t>
            </a:r>
            <a:r>
              <a:rPr lang="zh-CN" altLang="en-US"/>
              <a:t>。任何一项与代码不一致，都可能导致构建成功但运行失败。</a:t>
            </a:r>
          </a:p>
          <a:p>
            <a:endParaRPr lang="zh-CN" altLang="en-US"/>
          </a:p>
          <a:p>
            <a:r>
              <a:rPr lang="en-US" altLang="zh-CN"/>
              <a:t>Manifest</a:t>
            </a:r>
            <a:r>
              <a:rPr lang="zh-CN" altLang="en-US"/>
              <a:t>（清单）是声明式部署合同。</a:t>
            </a:r>
            <a:r>
              <a:rPr lang="en-US" altLang="zh-CN"/>
              <a:t>Direct Code Deployment</a:t>
            </a:r>
            <a:r>
              <a:rPr lang="zh-CN" altLang="en-US"/>
              <a:t>（直接代码部署）表示上传源代码，由远程构建解析依赖，无需本地构建容器镜像。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F1EDF-BF23-4F36-B155-B78D20D14AC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8415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本页约 </a:t>
            </a:r>
            <a:r>
              <a:rPr lang="en-US" altLang="zh-CN"/>
              <a:t>2 </a:t>
            </a:r>
            <a:r>
              <a:rPr lang="zh-CN" altLang="en-US"/>
              <a:t>分钟。</a:t>
            </a:r>
            <a:r>
              <a:rPr lang="en-US" altLang="zh-CN"/>
              <a:t>Provision </a:t>
            </a:r>
            <a:r>
              <a:rPr lang="zh-CN" altLang="en-US"/>
              <a:t>创建或更新 </a:t>
            </a:r>
            <a:r>
              <a:rPr lang="en-US" altLang="zh-CN"/>
              <a:t>Foundry Project</a:t>
            </a:r>
            <a:r>
              <a:rPr lang="zh-CN" altLang="en-US"/>
              <a:t>、模型和基础资源；</a:t>
            </a:r>
            <a:r>
              <a:rPr lang="en-US" altLang="zh-CN"/>
              <a:t>Run </a:t>
            </a:r>
            <a:r>
              <a:rPr lang="zh-CN" altLang="en-US"/>
              <a:t>启动本地协议端点；</a:t>
            </a:r>
            <a:r>
              <a:rPr lang="en-US" altLang="zh-CN"/>
              <a:t>Deploy </a:t>
            </a:r>
            <a:r>
              <a:rPr lang="zh-CN" altLang="en-US"/>
              <a:t>发布源代码并形成不可变 </a:t>
            </a:r>
            <a:r>
              <a:rPr lang="en-US" altLang="zh-CN"/>
              <a:t>Agent Version</a:t>
            </a:r>
            <a:r>
              <a:rPr lang="zh-CN" altLang="en-US"/>
              <a:t>。不要把基础设施失败和代码部署失败混在同一个排障步骤。</a:t>
            </a:r>
          </a:p>
          <a:p>
            <a:endParaRPr lang="zh-CN" altLang="en-US"/>
          </a:p>
          <a:p>
            <a:r>
              <a:rPr lang="en-US" altLang="zh-CN"/>
              <a:t>Immutable Version</a:t>
            </a:r>
            <a:r>
              <a:rPr lang="zh-CN" altLang="en-US"/>
              <a:t>（不可变版本）指发布后内容不再修改的部署修订。新代码应产生新版本，再通过路由切换流量。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F1EDF-BF23-4F36-B155-B78D20D14AC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0811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本页约 </a:t>
            </a:r>
            <a:r>
              <a:rPr lang="en-US" altLang="zh-CN"/>
              <a:t>2 </a:t>
            </a:r>
            <a:r>
              <a:rPr lang="zh-CN" altLang="en-US"/>
              <a:t>分钟。预检查关注订阅与租户、区域与模型可用性、配额、权限、成本范围以及隔离的 </a:t>
            </a:r>
            <a:r>
              <a:rPr lang="en-US"/>
              <a:t>azd environment。Preview </a:t>
            </a:r>
            <a:r>
              <a:rPr lang="zh-CN" altLang="en-US"/>
              <a:t>只计算变化，不创建资源；确认后再 </a:t>
            </a:r>
            <a:r>
              <a:rPr lang="en-US"/>
              <a:t>Provision。</a:t>
            </a:r>
          </a:p>
          <a:p>
            <a:endParaRPr lang="en-US"/>
          </a:p>
          <a:p>
            <a:r>
              <a:rPr lang="en-US"/>
              <a:t>Preflight（</a:t>
            </a:r>
            <a:r>
              <a:rPr lang="zh-CN" altLang="en-US"/>
              <a:t>预检查）是在执行有成本或不可逆操作之前核对依赖条件。</a:t>
            </a:r>
            <a:r>
              <a:rPr lang="en-US"/>
              <a:t>azd environment </a:t>
            </a:r>
            <a:r>
              <a:rPr lang="zh-CN" altLang="en-US"/>
              <a:t>是一组本地部署状态和参数，不等同于 </a:t>
            </a:r>
            <a:r>
              <a:rPr lang="en-US"/>
              <a:t>Azure Resource Group。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F1EDF-BF23-4F36-B155-B78D20D14AC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7915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本页约 </a:t>
            </a:r>
            <a:r>
              <a:rPr lang="en-US" altLang="zh-CN"/>
              <a:t>2 </a:t>
            </a:r>
            <a:r>
              <a:rPr lang="zh-CN" altLang="en-US"/>
              <a:t>分钟。</a:t>
            </a:r>
            <a:r>
              <a:rPr lang="en-US"/>
              <a:t>DevUI </a:t>
            </a:r>
            <a:r>
              <a:rPr lang="zh-CN" altLang="en-US"/>
              <a:t>与托管入口复用同一个 </a:t>
            </a:r>
            <a:r>
              <a:rPr lang="en-US"/>
              <a:t>create_agent()，</a:t>
            </a:r>
            <a:r>
              <a:rPr lang="zh-CN" altLang="en-US"/>
              <a:t>因此它适合观察 </a:t>
            </a:r>
            <a:r>
              <a:rPr lang="en-US"/>
              <a:t>Agent </a:t>
            </a:r>
            <a:r>
              <a:rPr lang="zh-CN" altLang="en-US"/>
              <a:t>回答和 </a:t>
            </a:r>
            <a:r>
              <a:rPr lang="en-US"/>
              <a:t>Responses </a:t>
            </a:r>
            <a:r>
              <a:rPr lang="zh-CN" altLang="en-US"/>
              <a:t>事件。它不替代远程 </a:t>
            </a:r>
            <a:r>
              <a:rPr lang="en-US"/>
              <a:t>Smoke、Evaluation、Guardrail、Trace </a:t>
            </a:r>
            <a:r>
              <a:rPr lang="zh-CN" altLang="en-US"/>
              <a:t>或性能测试。</a:t>
            </a:r>
          </a:p>
          <a:p>
            <a:endParaRPr lang="zh-CN" altLang="en-US"/>
          </a:p>
          <a:p>
            <a:r>
              <a:rPr lang="en-US"/>
              <a:t>DevUI（</a:t>
            </a:r>
            <a:r>
              <a:rPr lang="zh-CN" altLang="en-US"/>
              <a:t>开发界面）是本地交互与调试工具。</a:t>
            </a:r>
            <a:r>
              <a:rPr lang="en-US"/>
              <a:t>Events </a:t>
            </a:r>
            <a:r>
              <a:rPr lang="zh-CN" altLang="en-US"/>
              <a:t>面板展示 </a:t>
            </a:r>
            <a:r>
              <a:rPr lang="en-US"/>
              <a:t>created、in_progress </a:t>
            </a:r>
            <a:r>
              <a:rPr lang="zh-CN" altLang="en-US"/>
              <a:t>和输出事件，有助于确认协议事件流。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F1EDF-BF23-4F36-B155-B78D20D14AC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1094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本页约 </a:t>
            </a:r>
            <a:r>
              <a:rPr lang="en-US" altLang="zh-CN"/>
              <a:t>2 </a:t>
            </a:r>
            <a:r>
              <a:rPr lang="zh-CN" altLang="en-US"/>
              <a:t>分钟。使用将提交给远程构建的依赖清单创建干净环境，启动协议服务后验证就绪、身份、模型连接、缺失配置时的快速失败以及路径可移植性。</a:t>
            </a:r>
          </a:p>
          <a:p>
            <a:endParaRPr lang="zh-CN" altLang="en-US"/>
          </a:p>
          <a:p>
            <a:r>
              <a:rPr lang="en-US" altLang="zh-CN"/>
              <a:t>Compatibility Gate</a:t>
            </a:r>
            <a:r>
              <a:rPr lang="zh-CN" altLang="en-US"/>
              <a:t>（兼容性门）不是业务回归，而是确认新增 </a:t>
            </a:r>
            <a:r>
              <a:rPr lang="en-US" altLang="zh-CN"/>
              <a:t>Hosting </a:t>
            </a:r>
            <a:r>
              <a:rPr lang="zh-CN" altLang="en-US"/>
              <a:t>层在接近远程构建的环境中可运行。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F1EDF-BF23-4F36-B155-B78D20D14AC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7071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本页约 </a:t>
            </a:r>
            <a:r>
              <a:rPr lang="en-US" altLang="zh-CN"/>
              <a:t>2 </a:t>
            </a:r>
            <a:r>
              <a:rPr lang="zh-CN" altLang="en-US"/>
              <a:t>分钟。成功部署形成新 </a:t>
            </a:r>
            <a:r>
              <a:rPr lang="en-US"/>
              <a:t>Agent Version；</a:t>
            </a:r>
            <a:r>
              <a:rPr lang="zh-CN" altLang="en-US"/>
              <a:t>验收对象包括版本状态、</a:t>
            </a:r>
            <a:r>
              <a:rPr lang="en-US"/>
              <a:t>Responses endpoint、</a:t>
            </a:r>
            <a:r>
              <a:rPr lang="zh-CN" altLang="en-US"/>
              <a:t>当前路由和远程调用。安全的发布流程应先等待版本 </a:t>
            </a:r>
            <a:r>
              <a:rPr lang="en-US"/>
              <a:t>active，</a:t>
            </a:r>
            <a:r>
              <a:rPr lang="zh-CN" altLang="en-US"/>
              <a:t>再切流量，</a:t>
            </a:r>
            <a:r>
              <a:rPr lang="en-US"/>
              <a:t>Smoke </a:t>
            </a:r>
            <a:r>
              <a:rPr lang="zh-CN" altLang="en-US"/>
              <a:t>失败时恢复旧路由。</a:t>
            </a:r>
          </a:p>
          <a:p>
            <a:endParaRPr lang="zh-CN" altLang="en-US"/>
          </a:p>
          <a:p>
            <a:r>
              <a:rPr lang="en-US"/>
              <a:t>Routing（</a:t>
            </a:r>
            <a:r>
              <a:rPr lang="zh-CN" altLang="en-US"/>
              <a:t>路由）表示 </a:t>
            </a:r>
            <a:r>
              <a:rPr lang="en-US"/>
              <a:t>endpoint </a:t>
            </a:r>
            <a:r>
              <a:rPr lang="zh-CN" altLang="en-US"/>
              <a:t>将多少流量分配到哪个不可变版本。</a:t>
            </a:r>
            <a:r>
              <a:rPr lang="en-US"/>
              <a:t>Rollback（</a:t>
            </a:r>
            <a:r>
              <a:rPr lang="zh-CN" altLang="en-US"/>
              <a:t>回退）通常是恢复先前版本的路由，而不是修改旧版本。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F1EDF-BF23-4F36-B155-B78D20D14AC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0574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本页约 </a:t>
            </a:r>
            <a:r>
              <a:rPr lang="en-US" altLang="zh-CN"/>
              <a:t>2.5 </a:t>
            </a:r>
            <a:r>
              <a:rPr lang="zh-CN" altLang="en-US"/>
              <a:t>分钟。底层测试便宜、快速、数量多；越接近生产，成本和环境依赖越高。契约测试不能替代真实调用，</a:t>
            </a:r>
            <a:r>
              <a:rPr lang="en-US" altLang="zh-CN"/>
              <a:t>Remote Smoke </a:t>
            </a:r>
            <a:r>
              <a:rPr lang="zh-CN" altLang="en-US"/>
              <a:t>也不能替代质量、安全与性能评估。</a:t>
            </a:r>
          </a:p>
          <a:p>
            <a:endParaRPr lang="zh-CN" altLang="en-US"/>
          </a:p>
          <a:p>
            <a:r>
              <a:rPr lang="zh-CN" altLang="en-US"/>
              <a:t>测试金字塔（</a:t>
            </a:r>
            <a:r>
              <a:rPr lang="en-US" altLang="zh-CN"/>
              <a:t>Test Pyramid</a:t>
            </a:r>
            <a:r>
              <a:rPr lang="zh-CN" altLang="en-US"/>
              <a:t>）是一种测试组合模型：底层以大量快速的静态与单元检查为主，上层用较少但更真实的端到端和生产观测覆盖集成风险。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F1EDF-BF23-4F36-B155-B78D20D14AC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7730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本页约 </a:t>
            </a:r>
            <a:r>
              <a:rPr lang="en-US" altLang="zh-CN"/>
              <a:t>2 </a:t>
            </a:r>
            <a:r>
              <a:rPr lang="zh-CN" altLang="en-US"/>
              <a:t>分钟。</a:t>
            </a:r>
            <a:r>
              <a:rPr lang="en-US" altLang="zh-CN"/>
              <a:t>Smoke </a:t>
            </a:r>
            <a:r>
              <a:rPr lang="zh-CN" altLang="en-US"/>
              <a:t>用少量稳定样例验证 </a:t>
            </a:r>
            <a:r>
              <a:rPr lang="en-US" altLang="zh-CN"/>
              <a:t>endpoint</a:t>
            </a:r>
            <a:r>
              <a:rPr lang="zh-CN" altLang="en-US"/>
              <a:t>、版本、身份、模型和协议链路。它的通过条件不应只是“有非空回答”，还应检查目标版本、退出码和最低行为预期。</a:t>
            </a:r>
          </a:p>
          <a:p>
            <a:endParaRPr lang="zh-CN" altLang="en-US"/>
          </a:p>
          <a:p>
            <a:r>
              <a:rPr lang="en-US" altLang="zh-CN"/>
              <a:t>Smoke Test</a:t>
            </a:r>
            <a:r>
              <a:rPr lang="zh-CN" altLang="en-US"/>
              <a:t>（冒烟测试）是成本低、覆盖关键链路的快速检查，用于判断系统是否值得进入更完整测试。它不是全面业务验收。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F1EDF-BF23-4F36-B155-B78D20D14AC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1271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本页约 </a:t>
            </a:r>
            <a:r>
              <a:rPr lang="en-US" altLang="zh-CN"/>
              <a:t>2 </a:t>
            </a:r>
            <a:r>
              <a:rPr lang="zh-CN" altLang="en-US"/>
              <a:t>分钟。用同一 </a:t>
            </a:r>
            <a:r>
              <a:rPr lang="en-US" altLang="zh-CN"/>
              <a:t>JSONL </a:t>
            </a:r>
            <a:r>
              <a:rPr lang="zh-CN" altLang="en-US"/>
              <a:t>样例分别调用本地与 </a:t>
            </a:r>
            <a:r>
              <a:rPr lang="en-US" altLang="zh-CN"/>
              <a:t>Hosted Agent</a:t>
            </a:r>
            <a:r>
              <a:rPr lang="zh-CN" altLang="en-US"/>
              <a:t>，可区分业务逻辑问题和托管环境偏差。当前样例只记录回答与墙钟延迟，不自动判断 </a:t>
            </a:r>
            <a:r>
              <a:rPr lang="en-US" altLang="zh-CN"/>
              <a:t>expected_behavior</a:t>
            </a:r>
            <a:r>
              <a:rPr lang="zh-CN" altLang="en-US"/>
              <a:t>，因此属于比较证据，不是质量门禁。</a:t>
            </a:r>
          </a:p>
          <a:p>
            <a:endParaRPr lang="zh-CN" altLang="en-US"/>
          </a:p>
          <a:p>
            <a:r>
              <a:rPr lang="en-US" altLang="zh-CN"/>
              <a:t>Wall-clock latency</a:t>
            </a:r>
            <a:r>
              <a:rPr lang="zh-CN" altLang="en-US"/>
              <a:t>（墙钟延迟）是从客户端发起请求到收到完整结果的总耗时，包含网络、排队、模型和 </a:t>
            </a:r>
            <a:r>
              <a:rPr lang="en-US" altLang="zh-CN"/>
              <a:t>Tool </a:t>
            </a:r>
            <a:r>
              <a:rPr lang="zh-CN" altLang="en-US"/>
              <a:t>时间。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F1EDF-BF23-4F36-B155-B78D20D14AC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0247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本页约 </a:t>
            </a:r>
            <a:r>
              <a:rPr lang="en-US" altLang="zh-CN"/>
              <a:t>2.5 </a:t>
            </a:r>
            <a:r>
              <a:rPr lang="zh-CN" altLang="en-US"/>
              <a:t>分钟。只有固定 </a:t>
            </a:r>
            <a:r>
              <a:rPr lang="en-US" altLang="zh-CN"/>
              <a:t>Agent Version</a:t>
            </a:r>
            <a:r>
              <a:rPr lang="zh-CN" altLang="en-US"/>
              <a:t>、</a:t>
            </a:r>
            <a:r>
              <a:rPr lang="en-US" altLang="zh-CN"/>
              <a:t>Golden Dataset</a:t>
            </a:r>
            <a:r>
              <a:rPr lang="zh-CN" altLang="en-US"/>
              <a:t>、</a:t>
            </a:r>
            <a:r>
              <a:rPr lang="en-US" altLang="zh-CN"/>
              <a:t>Dataset Version </a:t>
            </a:r>
            <a:r>
              <a:rPr lang="zh-CN" altLang="en-US"/>
              <a:t>和 </a:t>
            </a:r>
            <a:r>
              <a:rPr lang="en-US" altLang="zh-CN"/>
              <a:t>Evaluator Version</a:t>
            </a:r>
            <a:r>
              <a:rPr lang="zh-CN" altLang="en-US"/>
              <a:t>，结果才可比较。失败样本必须人工复核，尤其是 </a:t>
            </a:r>
            <a:r>
              <a:rPr lang="en-US" altLang="zh-CN"/>
              <a:t>LLM Judge </a:t>
            </a:r>
            <a:r>
              <a:rPr lang="zh-CN" altLang="en-US"/>
              <a:t>的误报和 </a:t>
            </a:r>
            <a:r>
              <a:rPr lang="en-US" altLang="zh-CN"/>
              <a:t>Guardrail </a:t>
            </a:r>
            <a:r>
              <a:rPr lang="zh-CN" altLang="en-US"/>
              <a:t>输入阻断导致的无响应样本。</a:t>
            </a:r>
          </a:p>
          <a:p>
            <a:endParaRPr lang="zh-CN" altLang="en-US"/>
          </a:p>
          <a:p>
            <a:r>
              <a:rPr lang="en-US" altLang="zh-CN"/>
              <a:t>Golden Dataset</a:t>
            </a:r>
            <a:r>
              <a:rPr lang="zh-CN" altLang="en-US"/>
              <a:t>（黄金数据集）是经过审阅、可重复使用的代表性测试样例。</a:t>
            </a:r>
            <a:r>
              <a:rPr lang="en-US" altLang="zh-CN"/>
              <a:t>Evaluator</a:t>
            </a:r>
            <a:r>
              <a:rPr lang="zh-CN" altLang="en-US"/>
              <a:t>（评估器）根据意图解决、任务遵循或安全标准给出分数与理由。</a:t>
            </a:r>
            <a:r>
              <a:rPr lang="en-US" altLang="zh-CN"/>
              <a:t>LLM Judge </a:t>
            </a:r>
            <a:r>
              <a:rPr lang="zh-CN" altLang="en-US"/>
              <a:t>是用模型作为评审器的评估方式。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F1EDF-BF23-4F36-B155-B78D20D14AC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2544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本页约 </a:t>
            </a:r>
            <a:r>
              <a:rPr lang="en-US" altLang="zh-CN"/>
              <a:t>2 </a:t>
            </a:r>
            <a:r>
              <a:rPr lang="zh-CN" altLang="en-US"/>
              <a:t>分钟。关键业务回归、</a:t>
            </a:r>
            <a:r>
              <a:rPr lang="en-US" altLang="zh-CN"/>
              <a:t>Remote Smoke</a:t>
            </a:r>
            <a:r>
              <a:rPr lang="zh-CN" altLang="en-US"/>
              <a:t>、安全样例、任务遵循、成功率和延迟应共同决定发布。任何高影响 </a:t>
            </a:r>
            <a:r>
              <a:rPr lang="en-US" altLang="zh-CN"/>
              <a:t>Tool </a:t>
            </a:r>
            <a:r>
              <a:rPr lang="zh-CN" altLang="en-US"/>
              <a:t>还需要确定性授权和人工审批，不能依赖模型自觉拒绝。</a:t>
            </a:r>
          </a:p>
          <a:p>
            <a:endParaRPr lang="zh-CN" altLang="en-US"/>
          </a:p>
          <a:p>
            <a:r>
              <a:rPr lang="en-US" altLang="zh-CN"/>
              <a:t>Release Gate</a:t>
            </a:r>
            <a:r>
              <a:rPr lang="zh-CN" altLang="en-US"/>
              <a:t>（发布门禁）是进入下一环境或切换生产流量前必须满足的一组条件。</a:t>
            </a:r>
            <a:r>
              <a:rPr lang="en-US" altLang="zh-CN"/>
              <a:t>HITL</a:t>
            </a:r>
            <a:r>
              <a:rPr lang="zh-CN" altLang="en-US"/>
              <a:t>（</a:t>
            </a:r>
            <a:r>
              <a:rPr lang="en-US" altLang="zh-CN"/>
              <a:t>Human in the Loop</a:t>
            </a:r>
            <a:r>
              <a:rPr lang="zh-CN" altLang="en-US"/>
              <a:t>，人在回路）表示关键动作需要人工确认或审批。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F1EDF-BF23-4F36-B155-B78D20D14AC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0970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本页约 </a:t>
            </a:r>
            <a:r>
              <a:rPr lang="en-US" altLang="zh-CN"/>
              <a:t>2.5 </a:t>
            </a:r>
            <a:r>
              <a:rPr lang="zh-CN" altLang="en-US"/>
              <a:t>分钟。</a:t>
            </a:r>
            <a:r>
              <a:rPr lang="en-US"/>
              <a:t>Session </a:t>
            </a:r>
            <a:r>
              <a:rPr lang="zh-CN" altLang="en-US"/>
              <a:t>是托管运行时分配的执行环境；</a:t>
            </a:r>
            <a:r>
              <a:rPr lang="en-US"/>
              <a:t>Conversation </a:t>
            </a:r>
            <a:r>
              <a:rPr lang="zh-CN" altLang="en-US"/>
              <a:t>是 </a:t>
            </a:r>
            <a:r>
              <a:rPr lang="en-US"/>
              <a:t>Responses API </a:t>
            </a:r>
            <a:r>
              <a:rPr lang="zh-CN" altLang="en-US"/>
              <a:t>的多轮上下文对象；</a:t>
            </a:r>
            <a:r>
              <a:rPr lang="en-US"/>
              <a:t>Trace </a:t>
            </a:r>
            <a:r>
              <a:rPr lang="zh-CN" altLang="en-US"/>
              <a:t>是一次响应的端到端调用链。</a:t>
            </a:r>
            <a:r>
              <a:rPr lang="en-US"/>
              <a:t>Session </a:t>
            </a:r>
            <a:r>
              <a:rPr lang="zh-CN" altLang="en-US"/>
              <a:t>存在不代表推理成功，也不代表 </a:t>
            </a:r>
            <a:r>
              <a:rPr lang="en-US"/>
              <a:t>Conversation </a:t>
            </a:r>
            <a:r>
              <a:rPr lang="zh-CN" altLang="en-US"/>
              <a:t>或 </a:t>
            </a:r>
            <a:r>
              <a:rPr lang="en-US"/>
              <a:t>Trace </a:t>
            </a:r>
            <a:r>
              <a:rPr lang="zh-CN" altLang="en-US"/>
              <a:t>已创建。</a:t>
            </a:r>
          </a:p>
          <a:p>
            <a:endParaRPr lang="zh-CN" altLang="en-US"/>
          </a:p>
          <a:p>
            <a:r>
              <a:rPr lang="en-US"/>
              <a:t>Trace（</a:t>
            </a:r>
            <a:r>
              <a:rPr lang="zh-CN" altLang="en-US"/>
              <a:t>追踪）由多个 </a:t>
            </a:r>
            <a:r>
              <a:rPr lang="en-US"/>
              <a:t>Span </a:t>
            </a:r>
            <a:r>
              <a:rPr lang="zh-CN" altLang="en-US"/>
              <a:t>组成。</a:t>
            </a:r>
            <a:r>
              <a:rPr lang="en-US"/>
              <a:t>Conversation ID </a:t>
            </a:r>
            <a:r>
              <a:rPr lang="zh-CN" altLang="en-US"/>
              <a:t>用于关联多轮上下文；</a:t>
            </a:r>
            <a:r>
              <a:rPr lang="en-US"/>
              <a:t>Response ID </a:t>
            </a:r>
            <a:r>
              <a:rPr lang="zh-CN" altLang="en-US"/>
              <a:t>用于标识单次 </a:t>
            </a:r>
            <a:r>
              <a:rPr lang="en-US"/>
              <a:t>Responses </a:t>
            </a:r>
            <a:r>
              <a:rPr lang="zh-CN" altLang="en-US"/>
              <a:t>调用。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F1EDF-BF23-4F36-B155-B78D20D14AC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6673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本页约 </a:t>
            </a:r>
            <a:r>
              <a:rPr lang="en-US" altLang="zh-CN"/>
              <a:t>2 </a:t>
            </a:r>
            <a:r>
              <a:rPr lang="zh-CN" altLang="en-US"/>
              <a:t>分钟。按 </a:t>
            </a:r>
            <a:r>
              <a:rPr lang="en-US" altLang="zh-CN"/>
              <a:t>endpoint </a:t>
            </a:r>
            <a:r>
              <a:rPr lang="zh-CN" altLang="en-US"/>
              <a:t>当前路由版本筛选 </a:t>
            </a:r>
            <a:r>
              <a:rPr lang="en-US" altLang="zh-CN"/>
              <a:t>Session</a:t>
            </a:r>
            <a:r>
              <a:rPr lang="zh-CN" altLang="en-US"/>
              <a:t>。这里适合定位冷启动、依赖导入、</a:t>
            </a:r>
            <a:r>
              <a:rPr lang="en-US" altLang="zh-CN"/>
              <a:t>Managed Identity</a:t>
            </a:r>
            <a:r>
              <a:rPr lang="zh-CN" altLang="en-US"/>
              <a:t>、模型 </a:t>
            </a:r>
            <a:r>
              <a:rPr lang="en-US" altLang="zh-CN"/>
              <a:t>403/429 </a:t>
            </a:r>
            <a:r>
              <a:rPr lang="zh-CN" altLang="en-US"/>
              <a:t>与 </a:t>
            </a:r>
            <a:r>
              <a:rPr lang="en-US" altLang="zh-CN"/>
              <a:t>Tool </a:t>
            </a:r>
            <a:r>
              <a:rPr lang="zh-CN" altLang="en-US"/>
              <a:t>异常。跨 </a:t>
            </a:r>
            <a:r>
              <a:rPr lang="en-US" altLang="zh-CN"/>
              <a:t>Session </a:t>
            </a:r>
            <a:r>
              <a:rPr lang="zh-CN" altLang="en-US"/>
              <a:t>趋势应交给 </a:t>
            </a:r>
            <a:r>
              <a:rPr lang="en-US" altLang="zh-CN"/>
              <a:t>Monitor</a:t>
            </a:r>
            <a:r>
              <a:rPr lang="zh-CN" altLang="en-US"/>
              <a:t>，而不是逐条翻日志。</a:t>
            </a:r>
          </a:p>
          <a:p>
            <a:endParaRPr lang="zh-CN" altLang="en-US"/>
          </a:p>
          <a:p>
            <a:r>
              <a:rPr lang="en-US" altLang="zh-CN"/>
              <a:t>403 </a:t>
            </a:r>
            <a:r>
              <a:rPr lang="zh-CN" altLang="en-US"/>
              <a:t>表示身份已识别但权限不足；</a:t>
            </a:r>
            <a:r>
              <a:rPr lang="en-US" altLang="zh-CN"/>
              <a:t>429 </a:t>
            </a:r>
            <a:r>
              <a:rPr lang="zh-CN" altLang="en-US"/>
              <a:t>表示配额或速率限制。</a:t>
            </a:r>
            <a:r>
              <a:rPr lang="en-US" altLang="zh-CN"/>
              <a:t>Cold start</a:t>
            </a:r>
            <a:r>
              <a:rPr lang="zh-CN" altLang="en-US"/>
              <a:t>（冷启动）是首次分配运行环境和加载依赖的额外耗时。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F1EDF-BF23-4F36-B155-B78D20D14AC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3721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本页约 </a:t>
            </a:r>
            <a:r>
              <a:rPr lang="en-US" altLang="zh-CN"/>
              <a:t>2 </a:t>
            </a:r>
            <a:r>
              <a:rPr lang="zh-CN" altLang="en-US"/>
              <a:t>分钟。</a:t>
            </a:r>
            <a:r>
              <a:rPr lang="en-US"/>
              <a:t>Trace </a:t>
            </a:r>
            <a:r>
              <a:rPr lang="zh-CN" altLang="en-US"/>
              <a:t>将 </a:t>
            </a:r>
            <a:r>
              <a:rPr lang="en-US"/>
              <a:t>Agent、</a:t>
            </a:r>
            <a:r>
              <a:rPr lang="zh-CN" altLang="en-US"/>
              <a:t>模型、</a:t>
            </a:r>
            <a:r>
              <a:rPr lang="en-US"/>
              <a:t>Tool、Token、</a:t>
            </a:r>
            <a:r>
              <a:rPr lang="zh-CN" altLang="en-US"/>
              <a:t>耗时和异常关联到同一调用链。</a:t>
            </a:r>
            <a:r>
              <a:rPr lang="en-US"/>
              <a:t>Foundry Portal </a:t>
            </a:r>
            <a:r>
              <a:rPr lang="zh-CN" altLang="en-US"/>
              <a:t>识别 </a:t>
            </a:r>
            <a:r>
              <a:rPr lang="en-US"/>
              <a:t>Hosted Agent </a:t>
            </a:r>
            <a:r>
              <a:rPr lang="zh-CN" altLang="en-US"/>
              <a:t>时，外层 </a:t>
            </a:r>
            <a:r>
              <a:rPr lang="en-US"/>
              <a:t>Hosted Span </a:t>
            </a:r>
            <a:r>
              <a:rPr lang="zh-CN" altLang="en-US"/>
              <a:t>需要项目、</a:t>
            </a:r>
            <a:r>
              <a:rPr lang="en-US"/>
              <a:t>Agent </a:t>
            </a:r>
            <a:r>
              <a:rPr lang="zh-CN" altLang="en-US"/>
              <a:t>版本和 </a:t>
            </a:r>
            <a:r>
              <a:rPr lang="en-US"/>
              <a:t>Response ID </a:t>
            </a:r>
            <a:r>
              <a:rPr lang="zh-CN" altLang="en-US"/>
              <a:t>等属性。</a:t>
            </a:r>
          </a:p>
          <a:p>
            <a:endParaRPr lang="zh-CN" altLang="en-US"/>
          </a:p>
          <a:p>
            <a:r>
              <a:rPr lang="en-US"/>
              <a:t>Hosted Span </a:t>
            </a:r>
            <a:r>
              <a:rPr lang="zh-CN" altLang="en-US"/>
              <a:t>是代表托管请求的外层 </a:t>
            </a:r>
            <a:r>
              <a:rPr lang="en-US"/>
              <a:t>Span；Token </a:t>
            </a:r>
            <a:r>
              <a:rPr lang="zh-CN" altLang="en-US"/>
              <a:t>是模型处理的输入与输出文本计量单位。</a:t>
            </a:r>
            <a:r>
              <a:rPr lang="en-US"/>
              <a:t>Trace </a:t>
            </a:r>
            <a:r>
              <a:rPr lang="zh-CN" altLang="en-US"/>
              <a:t>可能包含 </a:t>
            </a:r>
            <a:r>
              <a:rPr lang="en-US"/>
              <a:t>Prompt </a:t>
            </a:r>
            <a:r>
              <a:rPr lang="zh-CN" altLang="en-US"/>
              <a:t>和 </a:t>
            </a:r>
            <a:r>
              <a:rPr lang="en-US"/>
              <a:t>Tool </a:t>
            </a:r>
            <a:r>
              <a:rPr lang="zh-CN" altLang="en-US"/>
              <a:t>参数，必须按生产数据控制访问与保留期。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F1EDF-BF23-4F36-B155-B78D20D14AC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1430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本页约 </a:t>
            </a:r>
            <a:r>
              <a:rPr lang="en-US" altLang="zh-CN"/>
              <a:t>2 </a:t>
            </a:r>
            <a:r>
              <a:rPr lang="zh-CN" altLang="en-US"/>
              <a:t>分钟。</a:t>
            </a:r>
            <a:r>
              <a:rPr lang="en-US" altLang="zh-CN"/>
              <a:t>Monitor </a:t>
            </a:r>
            <a:r>
              <a:rPr lang="zh-CN" altLang="en-US"/>
              <a:t>聚合运行次数、</a:t>
            </a:r>
            <a:r>
              <a:rPr lang="en-US" altLang="zh-CN"/>
              <a:t>Token</a:t>
            </a:r>
            <a:r>
              <a:rPr lang="zh-CN" altLang="en-US"/>
              <a:t>、估算成本、延迟、成功率与评估趋势。空白时先检查 </a:t>
            </a:r>
            <a:r>
              <a:rPr lang="en-US" altLang="zh-CN"/>
              <a:t>Agent Version</a:t>
            </a:r>
            <a:r>
              <a:rPr lang="zh-CN" altLang="en-US"/>
              <a:t>、真实流量、</a:t>
            </a:r>
            <a:r>
              <a:rPr lang="en-US" altLang="zh-CN"/>
              <a:t>Application Insights </a:t>
            </a:r>
            <a:r>
              <a:rPr lang="zh-CN" altLang="en-US"/>
              <a:t>连接和遥测摄取延迟。</a:t>
            </a:r>
          </a:p>
          <a:p>
            <a:endParaRPr lang="zh-CN" altLang="en-US"/>
          </a:p>
          <a:p>
            <a:r>
              <a:rPr lang="en-US" altLang="zh-CN"/>
              <a:t>Telemetry ingestion</a:t>
            </a:r>
            <a:r>
              <a:rPr lang="zh-CN" altLang="en-US"/>
              <a:t>（遥测摄取）是 </a:t>
            </a:r>
            <a:r>
              <a:rPr lang="en-US" altLang="zh-CN"/>
              <a:t>Span</a:t>
            </a:r>
            <a:r>
              <a:rPr lang="zh-CN" altLang="en-US"/>
              <a:t>、日志和指标从应用进入监控存储并完成索引的过程，通常存在分钟级延迟。</a:t>
            </a:r>
            <a:r>
              <a:rPr lang="en-US" altLang="zh-CN"/>
              <a:t>Monitor </a:t>
            </a:r>
            <a:r>
              <a:rPr lang="zh-CN" altLang="en-US"/>
              <a:t>和部分持续评估能力为 </a:t>
            </a:r>
            <a:r>
              <a:rPr lang="en-US" altLang="zh-CN"/>
              <a:t>Preview</a:t>
            </a:r>
            <a:r>
              <a:rPr lang="zh-CN" altLang="en-US"/>
              <a:t>，不应直接承诺生产 </a:t>
            </a:r>
            <a:r>
              <a:rPr lang="en-US" altLang="zh-CN"/>
              <a:t>SLA</a:t>
            </a:r>
            <a:r>
              <a:rPr lang="zh-CN" altLang="en-US"/>
              <a:t>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F1EDF-BF23-4F36-B155-B78D20D14AC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8532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本页约 </a:t>
            </a:r>
            <a:r>
              <a:rPr lang="en-US" altLang="zh-CN"/>
              <a:t>3.5 </a:t>
            </a:r>
            <a:r>
              <a:rPr lang="zh-CN" altLang="en-US"/>
              <a:t>分钟。模型或 </a:t>
            </a:r>
            <a:r>
              <a:rPr lang="en-US" altLang="zh-CN"/>
              <a:t>Agent Guardrail </a:t>
            </a:r>
            <a:r>
              <a:rPr lang="zh-CN" altLang="en-US"/>
              <a:t>负责运行时内容与攻击防护；应用策略负责 </a:t>
            </a:r>
            <a:r>
              <a:rPr lang="en-US" altLang="zh-CN"/>
              <a:t>Schema</a:t>
            </a:r>
            <a:r>
              <a:rPr lang="zh-CN" altLang="en-US"/>
              <a:t>、限流和业务边界；</a:t>
            </a:r>
            <a:r>
              <a:rPr lang="en-US" altLang="zh-CN"/>
              <a:t>Tool </a:t>
            </a:r>
            <a:r>
              <a:rPr lang="zh-CN" altLang="en-US"/>
              <a:t>授权负责确定性访问控制；</a:t>
            </a:r>
            <a:r>
              <a:rPr lang="en-US" altLang="zh-CN"/>
              <a:t>Evaluation </a:t>
            </a:r>
            <a:r>
              <a:rPr lang="zh-CN" altLang="en-US"/>
              <a:t>负责发现回归。高影响动作仍需 </a:t>
            </a:r>
            <a:r>
              <a:rPr lang="en-US" altLang="zh-CN"/>
              <a:t>RBAC </a:t>
            </a:r>
            <a:r>
              <a:rPr lang="zh-CN" altLang="en-US"/>
              <a:t>和人工审批。</a:t>
            </a:r>
          </a:p>
          <a:p>
            <a:endParaRPr lang="zh-CN" altLang="en-US"/>
          </a:p>
          <a:p>
            <a:r>
              <a:rPr lang="en-US" altLang="zh-CN"/>
              <a:t>Guardrail</a:t>
            </a:r>
            <a:r>
              <a:rPr lang="zh-CN" altLang="en-US"/>
              <a:t>（防护栏）是运行时安全策略。平台输入阶段阻断的强证据是 </a:t>
            </a:r>
            <a:r>
              <a:rPr lang="en-US" altLang="zh-CN"/>
              <a:t>HTTP 400 </a:t>
            </a:r>
            <a:r>
              <a:rPr lang="zh-CN" altLang="en-US"/>
              <a:t>与 </a:t>
            </a:r>
            <a:r>
              <a:rPr lang="en-US" altLang="zh-CN"/>
              <a:t>content_filter</a:t>
            </a:r>
            <a:r>
              <a:rPr lang="zh-CN" altLang="en-US"/>
              <a:t>；</a:t>
            </a:r>
            <a:r>
              <a:rPr lang="en-US" altLang="zh-CN"/>
              <a:t>HTTP 200 </a:t>
            </a:r>
            <a:r>
              <a:rPr lang="zh-CN" altLang="en-US"/>
              <a:t>后模型拒绝只证明模型或 </a:t>
            </a:r>
            <a:r>
              <a:rPr lang="en-US" altLang="zh-CN"/>
              <a:t>Agent </a:t>
            </a:r>
            <a:r>
              <a:rPr lang="zh-CN" altLang="en-US"/>
              <a:t>拒绝。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F1EDF-BF23-4F36-B155-B78D20D14AC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6142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本页约 </a:t>
            </a:r>
            <a:r>
              <a:rPr lang="en-US" altLang="zh-CN"/>
              <a:t>3.5 </a:t>
            </a:r>
            <a:r>
              <a:rPr lang="zh-CN" altLang="en-US"/>
              <a:t>分钟。区分冷启动、热路径、新 </a:t>
            </a:r>
            <a:r>
              <a:rPr lang="en-US" altLang="zh-CN"/>
              <a:t>Session </a:t>
            </a:r>
            <a:r>
              <a:rPr lang="zh-CN" altLang="en-US"/>
              <a:t>和并发 </a:t>
            </a:r>
            <a:r>
              <a:rPr lang="en-US" altLang="zh-CN"/>
              <a:t>Session</a:t>
            </a:r>
            <a:r>
              <a:rPr lang="zh-CN" altLang="en-US"/>
              <a:t>；记录 </a:t>
            </a:r>
            <a:r>
              <a:rPr lang="en-US" altLang="zh-CN"/>
              <a:t>TTFB</a:t>
            </a:r>
            <a:r>
              <a:rPr lang="zh-CN" altLang="en-US"/>
              <a:t>、</a:t>
            </a:r>
            <a:r>
              <a:rPr lang="en-US" altLang="zh-CN"/>
              <a:t>P50/P95/P99</a:t>
            </a:r>
            <a:r>
              <a:rPr lang="zh-CN" altLang="en-US"/>
              <a:t>、</a:t>
            </a:r>
            <a:r>
              <a:rPr lang="en-US" altLang="zh-CN"/>
              <a:t>RPS</a:t>
            </a:r>
            <a:r>
              <a:rPr lang="zh-CN" altLang="en-US"/>
              <a:t>、</a:t>
            </a:r>
            <a:r>
              <a:rPr lang="en-US" altLang="zh-CN"/>
              <a:t>429/5xx</a:t>
            </a:r>
            <a:r>
              <a:rPr lang="zh-CN" altLang="en-US"/>
              <a:t>、</a:t>
            </a:r>
            <a:r>
              <a:rPr lang="en-US" altLang="zh-CN"/>
              <a:t>Token </a:t>
            </a:r>
            <a:r>
              <a:rPr lang="zh-CN" altLang="en-US"/>
              <a:t>与成本。本次 </a:t>
            </a:r>
            <a:r>
              <a:rPr lang="en-US" altLang="zh-CN"/>
              <a:t>15 </a:t>
            </a:r>
            <a:r>
              <a:rPr lang="zh-CN" altLang="en-US"/>
              <a:t>请求、</a:t>
            </a:r>
            <a:r>
              <a:rPr lang="en-US" altLang="zh-CN"/>
              <a:t>0 </a:t>
            </a:r>
            <a:r>
              <a:rPr lang="zh-CN" altLang="en-US"/>
              <a:t>失败、</a:t>
            </a:r>
            <a:r>
              <a:rPr lang="en-US" altLang="zh-CN"/>
              <a:t>P50 14 </a:t>
            </a:r>
            <a:r>
              <a:rPr lang="zh-CN" altLang="en-US"/>
              <a:t>秒、</a:t>
            </a:r>
            <a:r>
              <a:rPr lang="en-US" altLang="zh-CN"/>
              <a:t>P95 25 </a:t>
            </a:r>
            <a:r>
              <a:rPr lang="zh-CN" altLang="en-US"/>
              <a:t>秒，只能作为初始基线，不能代表容量上限或 </a:t>
            </a:r>
            <a:r>
              <a:rPr lang="en-US" altLang="zh-CN"/>
              <a:t>SLA</a:t>
            </a:r>
            <a:r>
              <a:rPr lang="zh-CN" altLang="en-US"/>
              <a:t>。</a:t>
            </a:r>
          </a:p>
          <a:p>
            <a:endParaRPr lang="zh-CN" altLang="en-US"/>
          </a:p>
          <a:p>
            <a:r>
              <a:rPr lang="en-US" altLang="zh-CN"/>
              <a:t>Locust </a:t>
            </a:r>
            <a:r>
              <a:rPr lang="zh-CN" altLang="en-US"/>
              <a:t>是 </a:t>
            </a:r>
            <a:r>
              <a:rPr lang="en-US" altLang="zh-CN"/>
              <a:t>Python </a:t>
            </a:r>
            <a:r>
              <a:rPr lang="zh-CN" altLang="en-US"/>
              <a:t>负载测试工具，通过虚拟用户与启动速率生成并发请求。</a:t>
            </a:r>
            <a:r>
              <a:rPr lang="en-US" altLang="zh-CN"/>
              <a:t>TTFB </a:t>
            </a:r>
            <a:r>
              <a:rPr lang="zh-CN" altLang="en-US"/>
              <a:t>是 </a:t>
            </a:r>
            <a:r>
              <a:rPr lang="en-US" altLang="zh-CN"/>
              <a:t>Time to First Byte</a:t>
            </a:r>
            <a:r>
              <a:rPr lang="zh-CN" altLang="en-US"/>
              <a:t>（首字节时间）；</a:t>
            </a:r>
            <a:r>
              <a:rPr lang="en-US" altLang="zh-CN"/>
              <a:t>P95 </a:t>
            </a:r>
            <a:r>
              <a:rPr lang="zh-CN" altLang="en-US"/>
              <a:t>表示 </a:t>
            </a:r>
            <a:r>
              <a:rPr lang="en-US" altLang="zh-CN"/>
              <a:t>95% </a:t>
            </a:r>
            <a:r>
              <a:rPr lang="zh-CN" altLang="en-US"/>
              <a:t>请求延迟不超过该值；</a:t>
            </a:r>
            <a:r>
              <a:rPr lang="en-US" altLang="zh-CN"/>
              <a:t>RPS </a:t>
            </a:r>
            <a:r>
              <a:rPr lang="zh-CN" altLang="en-US"/>
              <a:t>是每秒请求数；</a:t>
            </a:r>
            <a:r>
              <a:rPr lang="en-US" altLang="zh-CN"/>
              <a:t>SLO </a:t>
            </a:r>
            <a:r>
              <a:rPr lang="zh-CN" altLang="en-US"/>
              <a:t>是服务级目标。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F1EDF-BF23-4F36-B155-B78D20D14AC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3104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本页约 </a:t>
            </a:r>
            <a:r>
              <a:rPr lang="en-US" altLang="zh-CN"/>
              <a:t>2 </a:t>
            </a:r>
            <a:r>
              <a:rPr lang="zh-CN" altLang="en-US"/>
              <a:t>分钟总结，随后预留 </a:t>
            </a:r>
            <a:r>
              <a:rPr lang="en-US" altLang="zh-CN"/>
              <a:t>5 </a:t>
            </a:r>
            <a:r>
              <a:rPr lang="zh-CN" altLang="en-US"/>
              <a:t>分钟问答。完整闭环是：观察真实流量，按固定数据和近期 </a:t>
            </a:r>
            <a:r>
              <a:rPr lang="en-US" altLang="zh-CN"/>
              <a:t>Trace </a:t>
            </a:r>
            <a:r>
              <a:rPr lang="zh-CN" altLang="en-US"/>
              <a:t>评估，触发告警，决定保留、修复或回退，再进入下一版本。</a:t>
            </a:r>
          </a:p>
          <a:p>
            <a:endParaRPr lang="zh-CN" altLang="en-US"/>
          </a:p>
          <a:p>
            <a:r>
              <a:rPr lang="en-US" altLang="zh-CN"/>
              <a:t>Continuous Evaluation</a:t>
            </a:r>
            <a:r>
              <a:rPr lang="zh-CN" altLang="en-US"/>
              <a:t>（持续评估）是按计划从近期 </a:t>
            </a:r>
            <a:r>
              <a:rPr lang="en-US" altLang="zh-CN"/>
              <a:t>Trace </a:t>
            </a:r>
            <a:r>
              <a:rPr lang="zh-CN" altLang="en-US"/>
              <a:t>抽样并计算质量或安全指标，不代表每个请求都被实时评分。</a:t>
            </a:r>
            <a:r>
              <a:rPr lang="en-US" altLang="zh-CN"/>
              <a:t>Alert</a:t>
            </a:r>
            <a:r>
              <a:rPr lang="zh-CN" altLang="en-US"/>
              <a:t>（告警）应关联明确的处置责任和回退动作。</a:t>
            </a:r>
          </a:p>
          <a:p>
            <a:endParaRPr lang="zh-CN" altLang="en-US"/>
          </a:p>
          <a:p>
            <a:r>
              <a:rPr lang="zh-CN" altLang="en-US"/>
              <a:t>可用三个问题收尾：当前团队最先缺的是托管接入、验证证据还是持续运营？哪些指标可以成为发布门禁？哪些高影响动作必须脱离模型判断并进入确定性授权？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F1EDF-BF23-4F36-B155-B78D20D14AC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606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489B9-D355-07A1-8BE3-40B4BEA92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40B12C-CCA4-0DB7-B0B3-33258A2C7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9206A-3486-1882-1136-FA46595E8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9AE85-3F33-4664-AEE1-B0FB9E476C03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E5927-F8A8-EBB6-3877-2635CD4EC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1801B-F74B-9A01-80BC-61A262E46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A917-BDB7-4F0A-A9A2-D213CD093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55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0902B-E76F-6546-D6DF-AA937604F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A679F-3131-E6D7-9271-BE89B9701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9D81F-6C8B-A1F1-6E3F-1E34C2876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9AE85-3F33-4664-AEE1-B0FB9E476C03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9583C-4E46-7640-6790-D3E42DB9B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A262B-32B4-D341-8962-C585A8B45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A917-BDB7-4F0A-A9A2-D213CD093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13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3F7FE-ABE0-F0FD-4E82-2DA01EF3F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DEB88-9D41-8298-9EDF-94D9E6E89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3E5C9-25B4-5C4B-B2D7-F7FCC65A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9AE85-3F33-4664-AEE1-B0FB9E476C03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08656-F30E-F3F2-254D-DE601FBE3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6AD54-3708-C4D7-671E-0AB66F0DB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A917-BDB7-4F0A-A9A2-D213CD093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94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8087B-0B82-3AB8-75D2-72B4BC4DB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2E6E0-EE2F-E934-B337-AE39072D8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5BF259-C374-F6FE-5262-7556D90BF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ED064-2ACA-75D5-3F42-50CD0A0D3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9AE85-3F33-4664-AEE1-B0FB9E476C03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FA205-7077-0BDD-3291-757F600BE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32DD0D-402C-186F-3979-4AEF452F1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A917-BDB7-4F0A-A9A2-D213CD093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30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0A546-FB1D-9884-A2B1-D7A86CA1D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F0AA4-4DCC-32A3-D9AE-CF7E0E8BB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F5167B-CCDF-5076-8FF8-4BFB9A0A56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178BE6-520F-FD7A-B13E-C2F72666F8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B33E5F-C9EC-768D-4FB6-4AE02F1985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AD22D2-4744-C454-EF74-0664EBA56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9AE85-3F33-4664-AEE1-B0FB9E476C03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B7541B-9FFA-E4FC-7D32-2B41847D2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BAEF75-4777-B1D2-C665-4969FE804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A917-BDB7-4F0A-A9A2-D213CD093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488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296CD-C73C-834A-E5D7-766C17203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60E0BB-E9DE-1BF6-1E31-3987052C3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9AE85-3F33-4664-AEE1-B0FB9E476C03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B61004-D33C-BB23-0432-E64273A8C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D6B515-A5CD-7C84-E8E2-414DE3812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A917-BDB7-4F0A-A9A2-D213CD093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307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E74813-8746-1838-42B9-344D607CF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9AE85-3F33-4664-AEE1-B0FB9E476C03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D7B6D2-C0BC-B10D-40EC-6E736428D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7411A0-63E1-0667-FD5D-D91BA7537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A917-BDB7-4F0A-A9A2-D213CD093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290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9814A-FBA6-D097-518E-75170395F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E2E9F-D307-0DE9-D761-B7D5BE77C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418AD8-A3D2-D3A3-D4F7-F3BD6BDE3C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9BFD0-C50C-67F4-9A28-9D8F1CF0E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9AE85-3F33-4664-AEE1-B0FB9E476C03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F56734-1C62-1521-0B6F-77FA4F337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EF415-6CF3-D602-D4AD-5F9FE3751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A917-BDB7-4F0A-A9A2-D213CD093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861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027FA-2A8B-6E17-E2C9-0860889D3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7B04FD-3193-5B08-70C9-61F066F71D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29A6D0-CCF8-3BDA-67E3-5E8B166DE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84F7C-3BE5-7758-77FD-B7CFD2D58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9AE85-3F33-4664-AEE1-B0FB9E476C03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B4B052-78FC-D9F1-C3BF-9F11ED9E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0C7E18-8723-2B46-8102-53F9E92A8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A917-BDB7-4F0A-A9A2-D213CD093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823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1C94F-28F8-6AF3-509E-DC43AD5E2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798B27-EF3C-6047-188F-853AC19847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2BA38-5EC7-121D-0381-F7966BB6A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9AE85-3F33-4664-AEE1-B0FB9E476C03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0DF4F-AAC4-4506-BEFA-7C52EF534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C6D44-B345-32B7-2494-16BB7905D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A917-BDB7-4F0A-A9A2-D213CD093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822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344974-58F4-335C-88FC-ABA156B13F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85B2D9-EFF8-38B4-2C1F-7AA44723C1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B684C-2EF3-82DD-9D49-E473DEE65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9AE85-3F33-4664-AEE1-B0FB9E476C03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5BC3B-C830-6D7A-AC50-218C2D2A1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50589-841F-BA8B-D1A9-E837B6D63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A917-BDB7-4F0A-A9A2-D213CD093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718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0490CF-8607-4970-1932-3132FAA1F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F06A72-DC78-6C7C-E346-25AF1EE55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9CD3A-656D-8102-82A0-9DD18A6BD7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79AE85-3F33-4664-AEE1-B0FB9E476C03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E2293-A4C3-3AF9-947D-1061D8D4BC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8ECB9-B8D7-1CC5-D672-5A502579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42A917-BDB7-4F0A-A9A2-D213CD093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029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3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C1C782-60FF-CE6E-2F27-BFB28FCF21AD}"/>
              </a:ext>
            </a:extLst>
          </p:cNvPr>
          <p:cNvSpPr/>
          <p:nvPr/>
        </p:nvSpPr>
        <p:spPr>
          <a:xfrm>
            <a:off x="863600" y="1549400"/>
            <a:ext cx="8255000" cy="787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从代码到可信运行</a:t>
            </a:r>
            <a:endParaRPr lang="en-US" sz="36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099CC2-21E0-6545-9BDA-35EB37C9A386}"/>
              </a:ext>
            </a:extLst>
          </p:cNvPr>
          <p:cNvSpPr/>
          <p:nvPr/>
        </p:nvSpPr>
        <p:spPr>
          <a:xfrm>
            <a:off x="889000" y="2501900"/>
            <a:ext cx="8890000" cy="406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000">
                <a:solidFill>
                  <a:srgbClr val="ECF3DD"/>
                </a:solidFill>
                <a:latin typeface="Microsoft YaHei" panose="020B0503020204020204" pitchFamily="34" charset="-122"/>
              </a:rPr>
              <a:t>Microsoft Foundry Hosted Agent </a:t>
            </a:r>
            <a:r>
              <a:rPr lang="zh-CN" altLang="en-US" sz="2000">
                <a:solidFill>
                  <a:srgbClr val="ECF3DD"/>
                </a:solidFill>
                <a:latin typeface="Microsoft YaHei" panose="020B0503020204020204" pitchFamily="34" charset="-122"/>
              </a:rPr>
              <a:t>部署与测试</a:t>
            </a:r>
            <a:endParaRPr lang="en-US" sz="2000">
              <a:solidFill>
                <a:srgbClr val="ECF3D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F93A5618-9233-26AA-C34E-E121DAD00D48}"/>
              </a:ext>
            </a:extLst>
          </p:cNvPr>
          <p:cNvSpPr/>
          <p:nvPr/>
        </p:nvSpPr>
        <p:spPr>
          <a:xfrm>
            <a:off x="889000" y="3886200"/>
            <a:ext cx="1981200" cy="889000"/>
          </a:xfrm>
          <a:prstGeom prst="chevron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14208E-8966-01B0-0265-5010449F9217}"/>
              </a:ext>
            </a:extLst>
          </p:cNvPr>
          <p:cNvSpPr/>
          <p:nvPr/>
        </p:nvSpPr>
        <p:spPr>
          <a:xfrm>
            <a:off x="1285240" y="4165600"/>
            <a:ext cx="1228344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接入</a:t>
            </a:r>
            <a:endParaRPr 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6594FC27-3783-80AF-7DCE-1DED9D9EBBF6}"/>
              </a:ext>
            </a:extLst>
          </p:cNvPr>
          <p:cNvSpPr/>
          <p:nvPr/>
        </p:nvSpPr>
        <p:spPr>
          <a:xfrm>
            <a:off x="2997200" y="3886200"/>
            <a:ext cx="1981200" cy="889000"/>
          </a:xfrm>
          <a:prstGeom prst="chevron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F44E44-9CB7-666B-5F14-49BEB81E9575}"/>
              </a:ext>
            </a:extLst>
          </p:cNvPr>
          <p:cNvSpPr/>
          <p:nvPr/>
        </p:nvSpPr>
        <p:spPr>
          <a:xfrm>
            <a:off x="3393440" y="4165600"/>
            <a:ext cx="1228344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部署</a:t>
            </a:r>
            <a:endParaRPr 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CE019494-B6D5-3740-8537-DBA5E8434EF6}"/>
              </a:ext>
            </a:extLst>
          </p:cNvPr>
          <p:cNvSpPr/>
          <p:nvPr/>
        </p:nvSpPr>
        <p:spPr>
          <a:xfrm>
            <a:off x="5105400" y="3886200"/>
            <a:ext cx="1981200" cy="889000"/>
          </a:xfrm>
          <a:prstGeom prst="chevron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28C1A4-5D27-4FDA-173C-9512203D3DEE}"/>
              </a:ext>
            </a:extLst>
          </p:cNvPr>
          <p:cNvSpPr/>
          <p:nvPr/>
        </p:nvSpPr>
        <p:spPr>
          <a:xfrm>
            <a:off x="5501640" y="4165600"/>
            <a:ext cx="1228345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验证</a:t>
            </a:r>
            <a:endParaRPr 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64DB2532-31E2-F3C5-DCBA-B6C661093B45}"/>
              </a:ext>
            </a:extLst>
          </p:cNvPr>
          <p:cNvSpPr/>
          <p:nvPr/>
        </p:nvSpPr>
        <p:spPr>
          <a:xfrm>
            <a:off x="7213600" y="3886200"/>
            <a:ext cx="1981200" cy="889000"/>
          </a:xfrm>
          <a:prstGeom prst="chevron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98BC42-E463-3100-C454-7B5D312A53DA}"/>
              </a:ext>
            </a:extLst>
          </p:cNvPr>
          <p:cNvSpPr/>
          <p:nvPr/>
        </p:nvSpPr>
        <p:spPr>
          <a:xfrm>
            <a:off x="7609840" y="4165600"/>
            <a:ext cx="1228345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观测</a:t>
            </a:r>
            <a:endParaRPr 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5CCD5A94-7B98-0669-189A-77603A7105AA}"/>
              </a:ext>
            </a:extLst>
          </p:cNvPr>
          <p:cNvSpPr/>
          <p:nvPr/>
        </p:nvSpPr>
        <p:spPr>
          <a:xfrm>
            <a:off x="9321800" y="3886200"/>
            <a:ext cx="1981200" cy="889000"/>
          </a:xfrm>
          <a:prstGeom prst="chevron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DA34E6-664A-4121-3DBE-16D400D6230C}"/>
              </a:ext>
            </a:extLst>
          </p:cNvPr>
          <p:cNvSpPr/>
          <p:nvPr/>
        </p:nvSpPr>
        <p:spPr>
          <a:xfrm>
            <a:off x="9718040" y="4165600"/>
            <a:ext cx="1228345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运营</a:t>
            </a:r>
            <a:endParaRPr lang="en-US" sz="1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516DB8-C3BD-C96D-DCA2-2120317AD2FE}"/>
              </a:ext>
            </a:extLst>
          </p:cNvPr>
          <p:cNvSpPr/>
          <p:nvPr/>
        </p:nvSpPr>
        <p:spPr>
          <a:xfrm>
            <a:off x="889000" y="5461000"/>
            <a:ext cx="3810000" cy="304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1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小时端到端实践</a:t>
            </a:r>
            <a:endParaRPr lang="en-US" sz="120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5770E0-F955-1C28-B383-30087C091208}"/>
              </a:ext>
            </a:extLst>
          </p:cNvPr>
          <p:cNvSpPr/>
          <p:nvPr/>
        </p:nvSpPr>
        <p:spPr>
          <a:xfrm>
            <a:off x="11430000" y="6324600"/>
            <a:ext cx="304800" cy="2032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sz="900">
                <a:solidFill>
                  <a:srgbClr val="ECF3DD"/>
                </a:solidFill>
                <a:latin typeface="Microsoft YaHei" panose="020B0503020204020204" pitchFamily="34" charset="-122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12079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FD82AE-38AD-C101-211D-3D31FE4A9922}"/>
              </a:ext>
            </a:extLst>
          </p:cNvPr>
          <p:cNvSpPr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900" b="1">
                <a:solidFill>
                  <a:srgbClr val="9BAE2A"/>
                </a:solidFill>
                <a:latin typeface="Microsoft YaHei" panose="020B0503020204020204" pitchFamily="34" charset="-122"/>
              </a:rPr>
              <a:t>导览</a:t>
            </a:r>
            <a:endParaRPr lang="en-US" sz="900" b="1">
              <a:solidFill>
                <a:srgbClr val="9BAE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96D3E9-9130-DE20-7297-E25AA32EE0DA}"/>
              </a:ext>
            </a:extLst>
          </p:cNvPr>
          <p:cNvSpPr/>
          <p:nvPr/>
        </p:nvSpPr>
        <p:spPr>
          <a:xfrm>
            <a:off x="685800" y="660400"/>
            <a:ext cx="10541000" cy="558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一小时要回答的三个问题</a:t>
            </a:r>
            <a:endParaRPr lang="en-US" sz="2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04E9EE-2521-13D2-5F41-B2865638BC9F}"/>
              </a:ext>
            </a:extLst>
          </p:cNvPr>
          <p:cNvSpPr/>
          <p:nvPr/>
        </p:nvSpPr>
        <p:spPr>
          <a:xfrm>
            <a:off x="11430000" y="6324600"/>
            <a:ext cx="304800" cy="2032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sz="900">
                <a:solidFill>
                  <a:srgbClr val="595D4F"/>
                </a:solidFill>
                <a:latin typeface="Microsoft YaHei" panose="020B0503020204020204" pitchFamily="34" charset="-122"/>
              </a:rPr>
              <a:t>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78A064F-2169-E785-1B6F-EE7E5A2C71C8}"/>
              </a:ext>
            </a:extLst>
          </p:cNvPr>
          <p:cNvSpPr/>
          <p:nvPr/>
        </p:nvSpPr>
        <p:spPr>
          <a:xfrm>
            <a:off x="698500" y="1841500"/>
            <a:ext cx="3302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0763DA-6132-DBB0-E19D-C5C2F3FDD3CD}"/>
              </a:ext>
            </a:extLst>
          </p:cNvPr>
          <p:cNvSpPr/>
          <p:nvPr/>
        </p:nvSpPr>
        <p:spPr>
          <a:xfrm>
            <a:off x="698500" y="1841500"/>
            <a:ext cx="88900" cy="2794000"/>
          </a:xfrm>
          <a:prstGeom prst="rect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B7874E-603B-A7DF-A445-996B3A0D0010}"/>
              </a:ext>
            </a:extLst>
          </p:cNvPr>
          <p:cNvSpPr/>
          <p:nvPr/>
        </p:nvSpPr>
        <p:spPr>
          <a:xfrm>
            <a:off x="977900" y="2044700"/>
            <a:ext cx="2844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CN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01  </a:t>
            </a:r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如何托管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42C41F-99EB-F48E-9F82-C1C41966027B}"/>
              </a:ext>
            </a:extLst>
          </p:cNvPr>
          <p:cNvSpPr/>
          <p:nvPr/>
        </p:nvSpPr>
        <p:spPr>
          <a:xfrm>
            <a:off x="977900" y="2476500"/>
            <a:ext cx="2844800" cy="2032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保留 </a:t>
            </a:r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Agent / Tool / Workflow</a:t>
            </a:r>
          </a:p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增加协议与 </a:t>
            </a:r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Hosting 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接入层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02E4B24-F505-0601-48DB-928437FBE6FD}"/>
              </a:ext>
            </a:extLst>
          </p:cNvPr>
          <p:cNvSpPr/>
          <p:nvPr/>
        </p:nvSpPr>
        <p:spPr>
          <a:xfrm>
            <a:off x="4445000" y="1841500"/>
            <a:ext cx="3302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1DE68F-8FC0-A98C-A86D-83834F405E80}"/>
              </a:ext>
            </a:extLst>
          </p:cNvPr>
          <p:cNvSpPr/>
          <p:nvPr/>
        </p:nvSpPr>
        <p:spPr>
          <a:xfrm>
            <a:off x="4445000" y="1841500"/>
            <a:ext cx="88900" cy="2794000"/>
          </a:xfrm>
          <a:prstGeom prst="rect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389531-FEF9-F02A-73AC-E0D481916C77}"/>
              </a:ext>
            </a:extLst>
          </p:cNvPr>
          <p:cNvSpPr/>
          <p:nvPr/>
        </p:nvSpPr>
        <p:spPr>
          <a:xfrm>
            <a:off x="4724400" y="2044700"/>
            <a:ext cx="2844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CN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02  </a:t>
            </a:r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如何证明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8D9270-737B-C499-4E91-984E80307479}"/>
              </a:ext>
            </a:extLst>
          </p:cNvPr>
          <p:cNvSpPr/>
          <p:nvPr/>
        </p:nvSpPr>
        <p:spPr>
          <a:xfrm>
            <a:off x="4724400" y="2476500"/>
            <a:ext cx="2844800" cy="2032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Smoke、Evaluation、Trace</a:t>
            </a:r>
          </a:p>
          <a:p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Guardrail 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与性能基线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307EC47-FE3E-DFB4-F920-2C00A1CFA3B0}"/>
              </a:ext>
            </a:extLst>
          </p:cNvPr>
          <p:cNvSpPr/>
          <p:nvPr/>
        </p:nvSpPr>
        <p:spPr>
          <a:xfrm>
            <a:off x="8191500" y="1841500"/>
            <a:ext cx="3302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C75F75-14FF-8F6D-96C9-3B15145F7FFF}"/>
              </a:ext>
            </a:extLst>
          </p:cNvPr>
          <p:cNvSpPr/>
          <p:nvPr/>
        </p:nvSpPr>
        <p:spPr>
          <a:xfrm>
            <a:off x="8191500" y="1841500"/>
            <a:ext cx="88900" cy="2794000"/>
          </a:xfrm>
          <a:prstGeom prst="rect">
            <a:avLst/>
          </a:prstGeom>
          <a:solidFill>
            <a:srgbClr val="4AA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FBE510-9E31-FAE8-6C81-11449DF8E7A1}"/>
              </a:ext>
            </a:extLst>
          </p:cNvPr>
          <p:cNvSpPr/>
          <p:nvPr/>
        </p:nvSpPr>
        <p:spPr>
          <a:xfrm>
            <a:off x="8470900" y="2044700"/>
            <a:ext cx="2844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CN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03  </a:t>
            </a:r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如何运营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1B544B-CB0E-AFAC-2B98-D0200ABFF941}"/>
              </a:ext>
            </a:extLst>
          </p:cNvPr>
          <p:cNvSpPr/>
          <p:nvPr/>
        </p:nvSpPr>
        <p:spPr>
          <a:xfrm>
            <a:off x="8470900" y="2476500"/>
            <a:ext cx="2844800" cy="2032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版本、路由、持续评估</a:t>
            </a:r>
          </a:p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告警、回退与清理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6249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8DA71B-C20B-F464-00E0-A10ABAA9D41A}"/>
              </a:ext>
            </a:extLst>
          </p:cNvPr>
          <p:cNvSpPr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900" b="1">
                <a:solidFill>
                  <a:srgbClr val="9BAE2A"/>
                </a:solidFill>
                <a:latin typeface="Microsoft YaHei" panose="020B0503020204020204" pitchFamily="34" charset="-122"/>
              </a:rPr>
              <a:t>建立共同模型</a:t>
            </a:r>
            <a:endParaRPr lang="en-US" sz="900" b="1">
              <a:solidFill>
                <a:srgbClr val="9BAE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A1449A-6406-8385-6C90-9F351EA704CF}"/>
              </a:ext>
            </a:extLst>
          </p:cNvPr>
          <p:cNvSpPr/>
          <p:nvPr/>
        </p:nvSpPr>
        <p:spPr>
          <a:xfrm>
            <a:off x="685800" y="660400"/>
            <a:ext cx="10541000" cy="558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起点是已有可运行的 </a:t>
            </a:r>
            <a:r>
              <a:rPr 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MAF Agent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590E51-7F7F-FA83-7B25-77FBD0C9C06E}"/>
              </a:ext>
            </a:extLst>
          </p:cNvPr>
          <p:cNvSpPr/>
          <p:nvPr/>
        </p:nvSpPr>
        <p:spPr>
          <a:xfrm>
            <a:off x="11430000" y="6324600"/>
            <a:ext cx="304800" cy="2032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sz="900">
                <a:solidFill>
                  <a:srgbClr val="595D4F"/>
                </a:solidFill>
                <a:latin typeface="Microsoft YaHei" panose="020B0503020204020204" pitchFamily="34" charset="-122"/>
              </a:rPr>
              <a:t>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8FBFDF4-3E3E-3C8D-4AF3-1D11896B0D1C}"/>
              </a:ext>
            </a:extLst>
          </p:cNvPr>
          <p:cNvSpPr/>
          <p:nvPr/>
        </p:nvSpPr>
        <p:spPr>
          <a:xfrm>
            <a:off x="952500" y="1905000"/>
            <a:ext cx="4445000" cy="292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83296D-42F5-956A-BEE3-52FD2D44BEDA}"/>
              </a:ext>
            </a:extLst>
          </p:cNvPr>
          <p:cNvSpPr/>
          <p:nvPr/>
        </p:nvSpPr>
        <p:spPr>
          <a:xfrm>
            <a:off x="952500" y="1905000"/>
            <a:ext cx="88900" cy="2921000"/>
          </a:xfrm>
          <a:prstGeom prst="rect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1779E8-951D-A740-B53C-6A1EB75F09D7}"/>
              </a:ext>
            </a:extLst>
          </p:cNvPr>
          <p:cNvSpPr/>
          <p:nvPr/>
        </p:nvSpPr>
        <p:spPr>
          <a:xfrm>
            <a:off x="1231900" y="2108200"/>
            <a:ext cx="3987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保留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F6DCA1-70FF-D75D-11BD-CB8E97304848}"/>
              </a:ext>
            </a:extLst>
          </p:cNvPr>
          <p:cNvSpPr/>
          <p:nvPr/>
        </p:nvSpPr>
        <p:spPr>
          <a:xfrm>
            <a:off x="1231900" y="2540000"/>
            <a:ext cx="3987800" cy="2159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Agent 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业务逻辑</a:t>
            </a:r>
          </a:p>
          <a:p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Tool 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与 </a:t>
            </a:r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Workflow</a:t>
            </a:r>
          </a:p>
          <a:p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Prompt 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与业务测试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1AC5B77-A4EB-F5CD-7A8B-60D154C6D2B0}"/>
              </a:ext>
            </a:extLst>
          </p:cNvPr>
          <p:cNvSpPr/>
          <p:nvPr/>
        </p:nvSpPr>
        <p:spPr>
          <a:xfrm>
            <a:off x="6794500" y="1905000"/>
            <a:ext cx="4445000" cy="292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95C207-335F-BF1C-D010-54258454466C}"/>
              </a:ext>
            </a:extLst>
          </p:cNvPr>
          <p:cNvSpPr/>
          <p:nvPr/>
        </p:nvSpPr>
        <p:spPr>
          <a:xfrm>
            <a:off x="6794500" y="1905000"/>
            <a:ext cx="88900" cy="2921000"/>
          </a:xfrm>
          <a:prstGeom prst="rect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D26C94-7566-7A76-8554-9340A6DFD520}"/>
              </a:ext>
            </a:extLst>
          </p:cNvPr>
          <p:cNvSpPr/>
          <p:nvPr/>
        </p:nvSpPr>
        <p:spPr>
          <a:xfrm>
            <a:off x="7073900" y="2108200"/>
            <a:ext cx="3987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新增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470F5F-7F59-8581-734A-1DCDB298272A}"/>
              </a:ext>
            </a:extLst>
          </p:cNvPr>
          <p:cNvSpPr/>
          <p:nvPr/>
        </p:nvSpPr>
        <p:spPr>
          <a:xfrm>
            <a:off x="7073900" y="2540000"/>
            <a:ext cx="3987800" cy="2159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Responses / Invocations 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协议</a:t>
            </a:r>
          </a:p>
          <a:p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azure.yaml 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与运行依赖</a:t>
            </a:r>
          </a:p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身份、遥测与部署验证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7A3D28-95A5-15A9-0DA5-531CA567A5BE}"/>
              </a:ext>
            </a:extLst>
          </p:cNvPr>
          <p:cNvSpPr/>
          <p:nvPr/>
        </p:nvSpPr>
        <p:spPr>
          <a:xfrm>
            <a:off x="3175000" y="5257800"/>
            <a:ext cx="5842000" cy="355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b="1">
                <a:solidFill>
                  <a:srgbClr val="2F3226"/>
                </a:solidFill>
                <a:latin typeface="Microsoft YaHei" panose="020B0503020204020204" pitchFamily="34" charset="-122"/>
              </a:rPr>
              <a:t>业务能力不变，运行边界发生变化</a:t>
            </a:r>
            <a:endParaRPr lang="en-US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2574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4C69CF-37C1-BA81-DFB7-DA95C47D49DD}"/>
              </a:ext>
            </a:extLst>
          </p:cNvPr>
          <p:cNvSpPr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900" b="1">
                <a:solidFill>
                  <a:srgbClr val="9BAE2A"/>
                </a:solidFill>
                <a:latin typeface="Microsoft YaHei" panose="020B0503020204020204" pitchFamily="34" charset="-122"/>
              </a:rPr>
              <a:t>建立共同模型</a:t>
            </a:r>
            <a:endParaRPr lang="en-US" sz="900" b="1">
              <a:solidFill>
                <a:srgbClr val="9BAE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2CA0D6-CB53-05BB-8F8C-52B310D27F9E}"/>
              </a:ext>
            </a:extLst>
          </p:cNvPr>
          <p:cNvSpPr/>
          <p:nvPr/>
        </p:nvSpPr>
        <p:spPr>
          <a:xfrm>
            <a:off x="685800" y="660400"/>
            <a:ext cx="10541000" cy="558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端到端运行链路</a:t>
            </a:r>
            <a:endParaRPr lang="en-US" sz="2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ECE685-09FE-0684-826E-EA7BE86026DE}"/>
              </a:ext>
            </a:extLst>
          </p:cNvPr>
          <p:cNvSpPr/>
          <p:nvPr/>
        </p:nvSpPr>
        <p:spPr>
          <a:xfrm>
            <a:off x="11430000" y="6324600"/>
            <a:ext cx="304800" cy="2032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sz="900">
                <a:solidFill>
                  <a:srgbClr val="595D4F"/>
                </a:solidFill>
                <a:latin typeface="Microsoft YaHei" panose="020B0503020204020204" pitchFamily="34" charset="-122"/>
              </a:rPr>
              <a:t>4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CBC95077-D152-F485-6721-7C9D25D9E82A}"/>
              </a:ext>
            </a:extLst>
          </p:cNvPr>
          <p:cNvSpPr/>
          <p:nvPr/>
        </p:nvSpPr>
        <p:spPr>
          <a:xfrm>
            <a:off x="533400" y="2349500"/>
            <a:ext cx="2120900" cy="889000"/>
          </a:xfrm>
          <a:prstGeom prst="chevron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FCE143-709D-D21B-F41A-9E31BCAA075A}"/>
              </a:ext>
            </a:extLst>
          </p:cNvPr>
          <p:cNvSpPr/>
          <p:nvPr/>
        </p:nvSpPr>
        <p:spPr>
          <a:xfrm>
            <a:off x="957580" y="2628900"/>
            <a:ext cx="1314958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Responses Endpoint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77999955-E68C-DDB4-D58B-3E117B9C36ED}"/>
              </a:ext>
            </a:extLst>
          </p:cNvPr>
          <p:cNvSpPr/>
          <p:nvPr/>
        </p:nvSpPr>
        <p:spPr>
          <a:xfrm>
            <a:off x="2781300" y="2349500"/>
            <a:ext cx="2120900" cy="889000"/>
          </a:xfrm>
          <a:prstGeom prst="chevron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1B3DC9-CAEC-DCC1-3F87-AF83DA2CBAA5}"/>
              </a:ext>
            </a:extLst>
          </p:cNvPr>
          <p:cNvSpPr/>
          <p:nvPr/>
        </p:nvSpPr>
        <p:spPr>
          <a:xfrm>
            <a:off x="3205480" y="2628900"/>
            <a:ext cx="1314958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Hosting Adapter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A9FF6CA9-7AD4-95B4-3871-AF1D6F8D70A0}"/>
              </a:ext>
            </a:extLst>
          </p:cNvPr>
          <p:cNvSpPr/>
          <p:nvPr/>
        </p:nvSpPr>
        <p:spPr>
          <a:xfrm>
            <a:off x="5029200" y="2349500"/>
            <a:ext cx="2120900" cy="889000"/>
          </a:xfrm>
          <a:prstGeom prst="chevron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6A9338-1C87-C870-0AAD-F8405713CE75}"/>
              </a:ext>
            </a:extLst>
          </p:cNvPr>
          <p:cNvSpPr/>
          <p:nvPr/>
        </p:nvSpPr>
        <p:spPr>
          <a:xfrm>
            <a:off x="5453380" y="2628900"/>
            <a:ext cx="1314958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MAF Agent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DF27B992-B138-C160-4F85-A2246A268A5A}"/>
              </a:ext>
            </a:extLst>
          </p:cNvPr>
          <p:cNvSpPr/>
          <p:nvPr/>
        </p:nvSpPr>
        <p:spPr>
          <a:xfrm>
            <a:off x="7277100" y="2349500"/>
            <a:ext cx="2120900" cy="889000"/>
          </a:xfrm>
          <a:prstGeom prst="chevron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865B13-105B-2E17-6529-E45E94DEA413}"/>
              </a:ext>
            </a:extLst>
          </p:cNvPr>
          <p:cNvSpPr/>
          <p:nvPr/>
        </p:nvSpPr>
        <p:spPr>
          <a:xfrm>
            <a:off x="7701280" y="2628900"/>
            <a:ext cx="1314958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Model / Tool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7448D9DB-DA9F-F90E-49AB-95CCB02B5973}"/>
              </a:ext>
            </a:extLst>
          </p:cNvPr>
          <p:cNvSpPr/>
          <p:nvPr/>
        </p:nvSpPr>
        <p:spPr>
          <a:xfrm>
            <a:off x="9525000" y="2349500"/>
            <a:ext cx="2120900" cy="889000"/>
          </a:xfrm>
          <a:prstGeom prst="chevron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1D927D-89E0-D880-9C67-A2B18BAABB9B}"/>
              </a:ext>
            </a:extLst>
          </p:cNvPr>
          <p:cNvSpPr/>
          <p:nvPr/>
        </p:nvSpPr>
        <p:spPr>
          <a:xfrm>
            <a:off x="9949180" y="2628900"/>
            <a:ext cx="1314958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Trace &amp; Monitor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041CF9-E380-45AC-2E5F-F8CA39777FFA}"/>
              </a:ext>
            </a:extLst>
          </p:cNvPr>
          <p:cNvSpPr/>
          <p:nvPr/>
        </p:nvSpPr>
        <p:spPr>
          <a:xfrm>
            <a:off x="698500" y="3708400"/>
            <a:ext cx="2032000" cy="304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300" b="1">
                <a:solidFill>
                  <a:srgbClr val="9BAE2A"/>
                </a:solidFill>
                <a:latin typeface="Microsoft YaHei" panose="020B0503020204020204" pitchFamily="34" charset="-122"/>
              </a:rPr>
              <a:t>请求路径</a:t>
            </a:r>
            <a:endParaRPr lang="en-US" sz="1300" b="1">
              <a:solidFill>
                <a:srgbClr val="9BAE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F95C19-0EA3-72FA-4D1A-8F54A47F6AC3}"/>
              </a:ext>
            </a:extLst>
          </p:cNvPr>
          <p:cNvSpPr/>
          <p:nvPr/>
        </p:nvSpPr>
        <p:spPr>
          <a:xfrm>
            <a:off x="698500" y="4191000"/>
            <a:ext cx="10795000" cy="431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2000" b="1">
                <a:solidFill>
                  <a:srgbClr val="2F3226"/>
                </a:solidFill>
                <a:latin typeface="Microsoft YaHei" panose="020B0503020204020204" pitchFamily="34" charset="-122"/>
              </a:rPr>
              <a:t>身份、版本与遥测沿同一调用链关联</a:t>
            </a:r>
            <a:endParaRPr lang="en-US" sz="20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1CC8D8-1FC8-F203-73FA-1FD6B78E4270}"/>
              </a:ext>
            </a:extLst>
          </p:cNvPr>
          <p:cNvSpPr/>
          <p:nvPr/>
        </p:nvSpPr>
        <p:spPr>
          <a:xfrm>
            <a:off x="698500" y="4889500"/>
            <a:ext cx="10795000" cy="533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Foundry 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管理托管与版本；</a:t>
            </a:r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MAF 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管理 </a:t>
            </a:r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Agent 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行为；</a:t>
            </a:r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Azure Monitor 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承载底层遥测。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161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4B5727-C1F0-2575-66F5-538D79BABEC8}"/>
              </a:ext>
            </a:extLst>
          </p:cNvPr>
          <p:cNvSpPr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900" b="1">
                <a:solidFill>
                  <a:srgbClr val="9BAE2A"/>
                </a:solidFill>
                <a:latin typeface="Microsoft YaHei" panose="020B0503020204020204" pitchFamily="34" charset="-122"/>
              </a:rPr>
              <a:t>建立共同模型</a:t>
            </a:r>
            <a:endParaRPr lang="en-US" sz="900" b="1">
              <a:solidFill>
                <a:srgbClr val="9BAE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794593-C8BA-8BA8-92F3-54520F7EBE4A}"/>
              </a:ext>
            </a:extLst>
          </p:cNvPr>
          <p:cNvSpPr/>
          <p:nvPr/>
        </p:nvSpPr>
        <p:spPr>
          <a:xfrm>
            <a:off x="685800" y="660400"/>
            <a:ext cx="10541000" cy="558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职责边界决定排障边界</a:t>
            </a:r>
            <a:endParaRPr lang="en-US" sz="2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166B8C-2EEE-C7CE-65FA-065549A8D9A4}"/>
              </a:ext>
            </a:extLst>
          </p:cNvPr>
          <p:cNvSpPr/>
          <p:nvPr/>
        </p:nvSpPr>
        <p:spPr>
          <a:xfrm>
            <a:off x="11430000" y="6324600"/>
            <a:ext cx="304800" cy="2032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sz="900">
                <a:solidFill>
                  <a:srgbClr val="595D4F"/>
                </a:solidFill>
                <a:latin typeface="Microsoft YaHei" panose="020B0503020204020204" pitchFamily="34" charset="-122"/>
              </a:rPr>
              <a:t>5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2DA13BD-8BB9-5EA5-E873-9C12DE000D01}"/>
              </a:ext>
            </a:extLst>
          </p:cNvPr>
          <p:cNvSpPr/>
          <p:nvPr/>
        </p:nvSpPr>
        <p:spPr>
          <a:xfrm>
            <a:off x="571500" y="1714500"/>
            <a:ext cx="26035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3DE225-5533-D94D-8225-F351780D8DCD}"/>
              </a:ext>
            </a:extLst>
          </p:cNvPr>
          <p:cNvSpPr/>
          <p:nvPr/>
        </p:nvSpPr>
        <p:spPr>
          <a:xfrm>
            <a:off x="571500" y="1714500"/>
            <a:ext cx="88900" cy="3302000"/>
          </a:xfrm>
          <a:prstGeom prst="rect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F4E678-A422-68F7-7053-E61D6901B920}"/>
              </a:ext>
            </a:extLst>
          </p:cNvPr>
          <p:cNvSpPr/>
          <p:nvPr/>
        </p:nvSpPr>
        <p:spPr>
          <a:xfrm>
            <a:off x="850900" y="1917700"/>
            <a:ext cx="21463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MAF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9A4315-6257-A82E-D947-56242D7D3F11}"/>
              </a:ext>
            </a:extLst>
          </p:cNvPr>
          <p:cNvSpPr/>
          <p:nvPr/>
        </p:nvSpPr>
        <p:spPr>
          <a:xfrm>
            <a:off x="850900" y="2349500"/>
            <a:ext cx="2146300" cy="254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Agent 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编排</a:t>
            </a:r>
          </a:p>
          <a:p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Tool / Workflow</a:t>
            </a:r>
          </a:p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业务指令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D375885-84B7-12E2-1A09-31F9D27148D0}"/>
              </a:ext>
            </a:extLst>
          </p:cNvPr>
          <p:cNvSpPr/>
          <p:nvPr/>
        </p:nvSpPr>
        <p:spPr>
          <a:xfrm>
            <a:off x="3429000" y="1714500"/>
            <a:ext cx="26035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62CD34-CF5D-FAFE-A1BF-0D671E1BFAE8}"/>
              </a:ext>
            </a:extLst>
          </p:cNvPr>
          <p:cNvSpPr/>
          <p:nvPr/>
        </p:nvSpPr>
        <p:spPr>
          <a:xfrm>
            <a:off x="3429000" y="1714500"/>
            <a:ext cx="88900" cy="3302000"/>
          </a:xfrm>
          <a:prstGeom prst="rect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78598E-7C99-7DAD-4D81-C3D084211287}"/>
              </a:ext>
            </a:extLst>
          </p:cNvPr>
          <p:cNvSpPr/>
          <p:nvPr/>
        </p:nvSpPr>
        <p:spPr>
          <a:xfrm>
            <a:off x="3708400" y="1917700"/>
            <a:ext cx="21463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Hosting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7A8154-E77F-BB23-7D9C-6024614B7D17}"/>
              </a:ext>
            </a:extLst>
          </p:cNvPr>
          <p:cNvSpPr/>
          <p:nvPr/>
        </p:nvSpPr>
        <p:spPr>
          <a:xfrm>
            <a:off x="3708400" y="2349500"/>
            <a:ext cx="2146300" cy="254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协议服务</a:t>
            </a:r>
          </a:p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健康检查</a:t>
            </a:r>
          </a:p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运行依赖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F7E5797-91AE-E8E2-C7B7-FF76F7939720}"/>
              </a:ext>
            </a:extLst>
          </p:cNvPr>
          <p:cNvSpPr/>
          <p:nvPr/>
        </p:nvSpPr>
        <p:spPr>
          <a:xfrm>
            <a:off x="6286500" y="1714500"/>
            <a:ext cx="26035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8C51A8-57EF-37FE-7A2E-F155BDEB9D74}"/>
              </a:ext>
            </a:extLst>
          </p:cNvPr>
          <p:cNvSpPr/>
          <p:nvPr/>
        </p:nvSpPr>
        <p:spPr>
          <a:xfrm>
            <a:off x="6286500" y="1714500"/>
            <a:ext cx="88900" cy="3302000"/>
          </a:xfrm>
          <a:prstGeom prst="rect">
            <a:avLst/>
          </a:prstGeom>
          <a:solidFill>
            <a:srgbClr val="A878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93A189-6BF2-7CC0-CE39-64CC8FEA5ED0}"/>
              </a:ext>
            </a:extLst>
          </p:cNvPr>
          <p:cNvSpPr/>
          <p:nvPr/>
        </p:nvSpPr>
        <p:spPr>
          <a:xfrm>
            <a:off x="6565900" y="1917700"/>
            <a:ext cx="21463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Foundry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FB5C7E-BC56-2FC0-ECFF-EB715F96E88E}"/>
              </a:ext>
            </a:extLst>
          </p:cNvPr>
          <p:cNvSpPr/>
          <p:nvPr/>
        </p:nvSpPr>
        <p:spPr>
          <a:xfrm>
            <a:off x="6565900" y="2349500"/>
            <a:ext cx="2146300" cy="254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版本与路由</a:t>
            </a:r>
          </a:p>
          <a:p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Session / Guardrail</a:t>
            </a:r>
          </a:p>
          <a:p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Evaluation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72EE581-CD9D-AA1D-E374-99A218BC20A1}"/>
              </a:ext>
            </a:extLst>
          </p:cNvPr>
          <p:cNvSpPr/>
          <p:nvPr/>
        </p:nvSpPr>
        <p:spPr>
          <a:xfrm>
            <a:off x="9144000" y="1714500"/>
            <a:ext cx="24765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D376BE-ABC5-03F7-91F8-21F79377108C}"/>
              </a:ext>
            </a:extLst>
          </p:cNvPr>
          <p:cNvSpPr/>
          <p:nvPr/>
        </p:nvSpPr>
        <p:spPr>
          <a:xfrm>
            <a:off x="9144000" y="1714500"/>
            <a:ext cx="88900" cy="3302000"/>
          </a:xfrm>
          <a:prstGeom prst="rect">
            <a:avLst/>
          </a:prstGeom>
          <a:solidFill>
            <a:srgbClr val="4AA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126DF1-4CA8-843B-0EC1-C78187D60701}"/>
              </a:ext>
            </a:extLst>
          </p:cNvPr>
          <p:cNvSpPr/>
          <p:nvPr/>
        </p:nvSpPr>
        <p:spPr>
          <a:xfrm>
            <a:off x="9423400" y="1917700"/>
            <a:ext cx="20193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Azure Monitor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5E7423-DBE1-167C-DECC-65A818E20F4A}"/>
              </a:ext>
            </a:extLst>
          </p:cNvPr>
          <p:cNvSpPr/>
          <p:nvPr/>
        </p:nvSpPr>
        <p:spPr>
          <a:xfrm>
            <a:off x="9423400" y="2349500"/>
            <a:ext cx="2019300" cy="254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Trace / Span</a:t>
            </a:r>
          </a:p>
          <a:p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Token / 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延迟</a:t>
            </a:r>
          </a:p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日志与告警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2023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6B54B1-43F1-25C8-7411-B142B9F8D765}"/>
              </a:ext>
            </a:extLst>
          </p:cNvPr>
          <p:cNvSpPr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900" b="1">
                <a:solidFill>
                  <a:srgbClr val="9BAE2A"/>
                </a:solidFill>
                <a:latin typeface="Microsoft YaHei" panose="020B0503020204020204" pitchFamily="34" charset="-122"/>
              </a:rPr>
              <a:t>托管接入</a:t>
            </a:r>
            <a:endParaRPr lang="en-US" sz="900" b="1">
              <a:solidFill>
                <a:srgbClr val="9BAE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63BE2F-AB4D-7FBE-7728-C09157499762}"/>
              </a:ext>
            </a:extLst>
          </p:cNvPr>
          <p:cNvSpPr/>
          <p:nvPr/>
        </p:nvSpPr>
        <p:spPr>
          <a:xfrm>
            <a:off x="685800" y="660400"/>
            <a:ext cx="10541000" cy="558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先选协议，再写 </a:t>
            </a:r>
            <a:r>
              <a:rPr lang="en-US" altLang="zh-CN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Hosting </a:t>
            </a:r>
            <a:r>
              <a:rPr lang="zh-CN" alt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层</a:t>
            </a:r>
            <a:endParaRPr lang="en-US" sz="2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046AC1-FB98-E498-EDFC-723D5F5F7CC7}"/>
              </a:ext>
            </a:extLst>
          </p:cNvPr>
          <p:cNvSpPr/>
          <p:nvPr/>
        </p:nvSpPr>
        <p:spPr>
          <a:xfrm>
            <a:off x="11430000" y="6324600"/>
            <a:ext cx="304800" cy="2032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sz="900">
                <a:solidFill>
                  <a:srgbClr val="595D4F"/>
                </a:solidFill>
                <a:latin typeface="Microsoft YaHei" panose="020B0503020204020204" pitchFamily="34" charset="-122"/>
              </a:rPr>
              <a:t>6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82A8678-446F-7C0D-DFB2-B2A4860F2F2C}"/>
              </a:ext>
            </a:extLst>
          </p:cNvPr>
          <p:cNvSpPr/>
          <p:nvPr/>
        </p:nvSpPr>
        <p:spPr>
          <a:xfrm>
            <a:off x="889000" y="1841500"/>
            <a:ext cx="4699000" cy="311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185B22-24F5-8A9B-F907-161D35E5F7F2}"/>
              </a:ext>
            </a:extLst>
          </p:cNvPr>
          <p:cNvSpPr/>
          <p:nvPr/>
        </p:nvSpPr>
        <p:spPr>
          <a:xfrm>
            <a:off x="889000" y="1841500"/>
            <a:ext cx="88900" cy="3111500"/>
          </a:xfrm>
          <a:prstGeom prst="rect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AF1A9B-7EBF-1F9F-13E5-0C49A4C6B2F8}"/>
              </a:ext>
            </a:extLst>
          </p:cNvPr>
          <p:cNvSpPr/>
          <p:nvPr/>
        </p:nvSpPr>
        <p:spPr>
          <a:xfrm>
            <a:off x="1168400" y="2044700"/>
            <a:ext cx="4241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Responses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89BE27-9AF8-5225-730D-9AE4F503FC45}"/>
              </a:ext>
            </a:extLst>
          </p:cNvPr>
          <p:cNvSpPr/>
          <p:nvPr/>
        </p:nvSpPr>
        <p:spPr>
          <a:xfrm>
            <a:off x="1168400" y="2476500"/>
            <a:ext cx="4241800" cy="2349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对话 </a:t>
            </a:r>
            <a:r>
              <a:rPr lang="en-US" altLang="zh-CN" sz="1300">
                <a:solidFill>
                  <a:srgbClr val="595D4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多轮历史</a:t>
            </a:r>
          </a:p>
          <a:p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RAG 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与 </a:t>
            </a:r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Tool</a:t>
            </a:r>
          </a:p>
          <a:p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OpenAI-compatible client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C1B5D8C-CC49-0AD7-E4E2-6E9125D970AB}"/>
              </a:ext>
            </a:extLst>
          </p:cNvPr>
          <p:cNvSpPr/>
          <p:nvPr/>
        </p:nvSpPr>
        <p:spPr>
          <a:xfrm>
            <a:off x="6604000" y="1841500"/>
            <a:ext cx="4699000" cy="311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D1E620-83C1-78C1-547F-7F0EC12DA57E}"/>
              </a:ext>
            </a:extLst>
          </p:cNvPr>
          <p:cNvSpPr/>
          <p:nvPr/>
        </p:nvSpPr>
        <p:spPr>
          <a:xfrm>
            <a:off x="6604000" y="1841500"/>
            <a:ext cx="88900" cy="3111500"/>
          </a:xfrm>
          <a:prstGeom prst="rect">
            <a:avLst/>
          </a:prstGeom>
          <a:solidFill>
            <a:srgbClr val="4AA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A32FC-49EF-3EF8-DF8E-F74B5B89A173}"/>
              </a:ext>
            </a:extLst>
          </p:cNvPr>
          <p:cNvSpPr/>
          <p:nvPr/>
        </p:nvSpPr>
        <p:spPr>
          <a:xfrm>
            <a:off x="6883400" y="2044700"/>
            <a:ext cx="4241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Invocations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69458C-F63E-66AC-3E93-68F16C9FE25C}"/>
              </a:ext>
            </a:extLst>
          </p:cNvPr>
          <p:cNvSpPr/>
          <p:nvPr/>
        </p:nvSpPr>
        <p:spPr>
          <a:xfrm>
            <a:off x="6883400" y="2476500"/>
            <a:ext cx="4241800" cy="2349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CN" sz="1300">
                <a:solidFill>
                  <a:srgbClr val="595D4F"/>
                </a:solidFill>
                <a:latin typeface="Microsoft YaHei" panose="020B0503020204020204" pitchFamily="34" charset="-122"/>
              </a:rPr>
              <a:t>Webhook / 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任意 </a:t>
            </a:r>
            <a:r>
              <a:rPr lang="en-US" altLang="zh-CN" sz="1300">
                <a:solidFill>
                  <a:srgbClr val="595D4F"/>
                </a:solidFill>
                <a:latin typeface="Microsoft YaHei" panose="020B0503020204020204" pitchFamily="34" charset="-122"/>
              </a:rPr>
              <a:t>JSON</a:t>
            </a:r>
          </a:p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非对话处理</a:t>
            </a:r>
          </a:p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自定义 </a:t>
            </a:r>
            <a:r>
              <a:rPr lang="en-US" altLang="zh-CN" sz="1300">
                <a:solidFill>
                  <a:srgbClr val="595D4F"/>
                </a:solidFill>
                <a:latin typeface="Microsoft YaHei" panose="020B0503020204020204" pitchFamily="34" charset="-122"/>
              </a:rPr>
              <a:t>SSE 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或入口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B09B37-2412-3225-3913-3742B2B036FD}"/>
              </a:ext>
            </a:extLst>
          </p:cNvPr>
          <p:cNvSpPr/>
          <p:nvPr/>
        </p:nvSpPr>
        <p:spPr>
          <a:xfrm>
            <a:off x="2921000" y="5334000"/>
            <a:ext cx="6350000" cy="355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700" b="1">
                <a:solidFill>
                  <a:srgbClr val="2F3226"/>
                </a:solidFill>
                <a:latin typeface="Microsoft YaHei" panose="020B0503020204020204" pitchFamily="34" charset="-122"/>
              </a:rPr>
              <a:t>选择依据：调用契约，而不是框架偏好</a:t>
            </a:r>
            <a:endParaRPr lang="en-US" sz="17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425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E8645D-DEFC-C57A-2BA4-A2D55DF67676}"/>
              </a:ext>
            </a:extLst>
          </p:cNvPr>
          <p:cNvSpPr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900" b="1">
                <a:solidFill>
                  <a:srgbClr val="9BAE2A"/>
                </a:solidFill>
                <a:latin typeface="Microsoft YaHei" panose="020B0503020204020204" pitchFamily="34" charset="-122"/>
              </a:rPr>
              <a:t>托管接入</a:t>
            </a:r>
            <a:endParaRPr lang="en-US" sz="900" b="1">
              <a:solidFill>
                <a:srgbClr val="9BAE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4AB874-4CEC-AD2F-1392-2F631F1B2D7D}"/>
              </a:ext>
            </a:extLst>
          </p:cNvPr>
          <p:cNvSpPr/>
          <p:nvPr/>
        </p:nvSpPr>
        <p:spPr>
          <a:xfrm>
            <a:off x="685800" y="660400"/>
            <a:ext cx="10541000" cy="558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最小改造：薄 </a:t>
            </a:r>
            <a:r>
              <a:rPr 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Hosting Adapter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D7473D-813E-07D3-C911-E2D0271E3BE8}"/>
              </a:ext>
            </a:extLst>
          </p:cNvPr>
          <p:cNvSpPr/>
          <p:nvPr/>
        </p:nvSpPr>
        <p:spPr>
          <a:xfrm>
            <a:off x="11430000" y="6324600"/>
            <a:ext cx="304800" cy="2032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sz="900">
                <a:solidFill>
                  <a:srgbClr val="595D4F"/>
                </a:solidFill>
                <a:latin typeface="Microsoft YaHei" panose="020B0503020204020204" pitchFamily="34" charset="-122"/>
              </a:rPr>
              <a:t>7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D6DA75A-CD57-C654-0EB5-B66099D12FBF}"/>
              </a:ext>
            </a:extLst>
          </p:cNvPr>
          <p:cNvSpPr/>
          <p:nvPr/>
        </p:nvSpPr>
        <p:spPr>
          <a:xfrm>
            <a:off x="889000" y="1841500"/>
            <a:ext cx="31750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523F58-0AC4-BA18-6B0F-06D520847E11}"/>
              </a:ext>
            </a:extLst>
          </p:cNvPr>
          <p:cNvSpPr/>
          <p:nvPr/>
        </p:nvSpPr>
        <p:spPr>
          <a:xfrm>
            <a:off x="889000" y="1841500"/>
            <a:ext cx="88900" cy="2667000"/>
          </a:xfrm>
          <a:prstGeom prst="rect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1889AE-9819-27CD-B74A-584B34DDE80E}"/>
              </a:ext>
            </a:extLst>
          </p:cNvPr>
          <p:cNvSpPr/>
          <p:nvPr/>
        </p:nvSpPr>
        <p:spPr>
          <a:xfrm>
            <a:off x="1168400" y="2044700"/>
            <a:ext cx="2717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1  Create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3545F7-0A6D-C764-2B5B-4EDFD96340A0}"/>
              </a:ext>
            </a:extLst>
          </p:cNvPr>
          <p:cNvSpPr/>
          <p:nvPr/>
        </p:nvSpPr>
        <p:spPr>
          <a:xfrm>
            <a:off x="1168400" y="2476500"/>
            <a:ext cx="2717800" cy="1905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复用 </a:t>
            </a:r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create_agent()</a:t>
            </a:r>
          </a:p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保留业务实现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BBB0267-5C90-77FD-BFEB-5D0A6408DCC2}"/>
              </a:ext>
            </a:extLst>
          </p:cNvPr>
          <p:cNvSpPr/>
          <p:nvPr/>
        </p:nvSpPr>
        <p:spPr>
          <a:xfrm>
            <a:off x="4508500" y="1841500"/>
            <a:ext cx="31750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446CA4-0EF4-CAAC-5AB2-869F8A226D75}"/>
              </a:ext>
            </a:extLst>
          </p:cNvPr>
          <p:cNvSpPr/>
          <p:nvPr/>
        </p:nvSpPr>
        <p:spPr>
          <a:xfrm>
            <a:off x="4508500" y="1841500"/>
            <a:ext cx="88900" cy="2667000"/>
          </a:xfrm>
          <a:prstGeom prst="rect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E05210-4BE4-A92B-52D2-15D27F8DCDF4}"/>
              </a:ext>
            </a:extLst>
          </p:cNvPr>
          <p:cNvSpPr/>
          <p:nvPr/>
        </p:nvSpPr>
        <p:spPr>
          <a:xfrm>
            <a:off x="4787900" y="2044700"/>
            <a:ext cx="2717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2  Wrap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7A9909-882E-079E-2C31-5387636A3C43}"/>
              </a:ext>
            </a:extLst>
          </p:cNvPr>
          <p:cNvSpPr/>
          <p:nvPr/>
        </p:nvSpPr>
        <p:spPr>
          <a:xfrm>
            <a:off x="4787900" y="2476500"/>
            <a:ext cx="2717800" cy="1905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ResponsesHostServer(agent)</a:t>
            </a:r>
          </a:p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暴露协议服务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2F4F2C8-8524-4229-F4C7-9116B875C5B1}"/>
              </a:ext>
            </a:extLst>
          </p:cNvPr>
          <p:cNvSpPr/>
          <p:nvPr/>
        </p:nvSpPr>
        <p:spPr>
          <a:xfrm>
            <a:off x="8128000" y="1841500"/>
            <a:ext cx="31750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D9A0B7-40EB-C1A5-4CEA-99B9C1C9CACA}"/>
              </a:ext>
            </a:extLst>
          </p:cNvPr>
          <p:cNvSpPr/>
          <p:nvPr/>
        </p:nvSpPr>
        <p:spPr>
          <a:xfrm>
            <a:off x="8128000" y="1841500"/>
            <a:ext cx="88900" cy="2667000"/>
          </a:xfrm>
          <a:prstGeom prst="rect">
            <a:avLst/>
          </a:prstGeom>
          <a:solidFill>
            <a:srgbClr val="A878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D8EA21-0FC1-2D45-F1EF-78A262A15276}"/>
              </a:ext>
            </a:extLst>
          </p:cNvPr>
          <p:cNvSpPr/>
          <p:nvPr/>
        </p:nvSpPr>
        <p:spPr>
          <a:xfrm>
            <a:off x="8407400" y="2044700"/>
            <a:ext cx="2717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3  Run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C7924D-4769-9782-3B9E-8CB128C65B7F}"/>
              </a:ext>
            </a:extLst>
          </p:cNvPr>
          <p:cNvSpPr/>
          <p:nvPr/>
        </p:nvSpPr>
        <p:spPr>
          <a:xfrm>
            <a:off x="8407400" y="2476500"/>
            <a:ext cx="2717800" cy="1905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健康检查与事件流</a:t>
            </a:r>
          </a:p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进入托管运行时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7EE40B-622F-7731-7327-D97E01BFD546}"/>
              </a:ext>
            </a:extLst>
          </p:cNvPr>
          <p:cNvSpPr/>
          <p:nvPr/>
        </p:nvSpPr>
        <p:spPr>
          <a:xfrm>
            <a:off x="3810000" y="5143500"/>
            <a:ext cx="4572000" cy="406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000" b="1">
                <a:solidFill>
                  <a:srgbClr val="2F3226"/>
                </a:solidFill>
                <a:latin typeface="Microsoft YaHei" panose="020B0503020204020204" pitchFamily="34" charset="-122"/>
              </a:rPr>
              <a:t>业务代码只保留一个来源</a:t>
            </a:r>
            <a:endParaRPr lang="en-US" sz="20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16053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DD9845-74E3-86A4-D3E9-A6CD9FECF1FA}"/>
              </a:ext>
            </a:extLst>
          </p:cNvPr>
          <p:cNvSpPr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900" b="1">
                <a:solidFill>
                  <a:srgbClr val="9BAE2A"/>
                </a:solidFill>
                <a:latin typeface="Microsoft YaHei" panose="020B0503020204020204" pitchFamily="34" charset="-122"/>
              </a:rPr>
              <a:t>托管接入</a:t>
            </a:r>
            <a:endParaRPr lang="en-US" sz="900" b="1">
              <a:solidFill>
                <a:srgbClr val="9BAE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30EED6-1309-2F1A-F425-6581A4AED915}"/>
              </a:ext>
            </a:extLst>
          </p:cNvPr>
          <p:cNvSpPr/>
          <p:nvPr/>
        </p:nvSpPr>
        <p:spPr>
          <a:xfrm>
            <a:off x="685800" y="660400"/>
            <a:ext cx="10541000" cy="558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身份和配置随运行环境切换</a:t>
            </a:r>
            <a:endParaRPr lang="en-US" sz="2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6873BE-2A84-A533-86CF-36EC19F3C5DE}"/>
              </a:ext>
            </a:extLst>
          </p:cNvPr>
          <p:cNvSpPr/>
          <p:nvPr/>
        </p:nvSpPr>
        <p:spPr>
          <a:xfrm>
            <a:off x="11430000" y="6324600"/>
            <a:ext cx="304800" cy="2032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sz="900">
                <a:solidFill>
                  <a:srgbClr val="595D4F"/>
                </a:solidFill>
                <a:latin typeface="Microsoft YaHei" panose="020B0503020204020204" pitchFamily="34" charset="-122"/>
              </a:rPr>
              <a:t>8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D6DC084-23F6-1821-B74B-2E54FA594A55}"/>
              </a:ext>
            </a:extLst>
          </p:cNvPr>
          <p:cNvSpPr/>
          <p:nvPr/>
        </p:nvSpPr>
        <p:spPr>
          <a:xfrm>
            <a:off x="889000" y="1905000"/>
            <a:ext cx="4445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4808BC-47E6-6620-15E0-4EBB6383D796}"/>
              </a:ext>
            </a:extLst>
          </p:cNvPr>
          <p:cNvSpPr/>
          <p:nvPr/>
        </p:nvSpPr>
        <p:spPr>
          <a:xfrm>
            <a:off x="889000" y="1905000"/>
            <a:ext cx="88900" cy="2794000"/>
          </a:xfrm>
          <a:prstGeom prst="rect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0FE756-DA32-AE3E-53E9-DCF35EDC54C9}"/>
              </a:ext>
            </a:extLst>
          </p:cNvPr>
          <p:cNvSpPr/>
          <p:nvPr/>
        </p:nvSpPr>
        <p:spPr>
          <a:xfrm>
            <a:off x="1168400" y="2108200"/>
            <a:ext cx="3987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本地开发身份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22B8CC-7DCE-43FA-0C88-E9D4D6663113}"/>
              </a:ext>
            </a:extLst>
          </p:cNvPr>
          <p:cNvSpPr/>
          <p:nvPr/>
        </p:nvSpPr>
        <p:spPr>
          <a:xfrm>
            <a:off x="1168400" y="2540000"/>
            <a:ext cx="3987800" cy="2032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Azure CLI / VS Code</a:t>
            </a:r>
          </a:p>
          <a:p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DefaultAzureCredential</a:t>
            </a:r>
          </a:p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面向开发订阅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6332DF9-BD78-4C31-F712-B3B2919BA840}"/>
              </a:ext>
            </a:extLst>
          </p:cNvPr>
          <p:cNvSpPr/>
          <p:nvPr/>
        </p:nvSpPr>
        <p:spPr>
          <a:xfrm>
            <a:off x="6858000" y="1905000"/>
            <a:ext cx="4445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2CB3E4-300C-413C-7C16-23EF61CF3473}"/>
              </a:ext>
            </a:extLst>
          </p:cNvPr>
          <p:cNvSpPr/>
          <p:nvPr/>
        </p:nvSpPr>
        <p:spPr>
          <a:xfrm>
            <a:off x="6858000" y="1905000"/>
            <a:ext cx="88900" cy="2794000"/>
          </a:xfrm>
          <a:prstGeom prst="rect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785EA9-0DC3-7987-4284-8FD039CB63F3}"/>
              </a:ext>
            </a:extLst>
          </p:cNvPr>
          <p:cNvSpPr/>
          <p:nvPr/>
        </p:nvSpPr>
        <p:spPr>
          <a:xfrm>
            <a:off x="7137400" y="2108200"/>
            <a:ext cx="3987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托管运行身份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8D7F07-F069-5C16-E7AB-090FF144761E}"/>
              </a:ext>
            </a:extLst>
          </p:cNvPr>
          <p:cNvSpPr/>
          <p:nvPr/>
        </p:nvSpPr>
        <p:spPr>
          <a:xfrm>
            <a:off x="7137400" y="2540000"/>
            <a:ext cx="3987800" cy="2032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Managed Identity</a:t>
            </a:r>
          </a:p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最小权限 </a:t>
            </a:r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RBAC</a:t>
            </a:r>
          </a:p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环境变量注入配置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CAD48E10-6AE3-8058-10E5-20DA8A8DF055}"/>
              </a:ext>
            </a:extLst>
          </p:cNvPr>
          <p:cNvSpPr/>
          <p:nvPr/>
        </p:nvSpPr>
        <p:spPr>
          <a:xfrm>
            <a:off x="5651500" y="2730500"/>
            <a:ext cx="889000" cy="889000"/>
          </a:xfrm>
          <a:prstGeom prst="chevron">
            <a:avLst/>
          </a:prstGeom>
          <a:solidFill>
            <a:srgbClr val="4AA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AEF302-5128-58DF-42B0-BE5C887689E6}"/>
              </a:ext>
            </a:extLst>
          </p:cNvPr>
          <p:cNvSpPr/>
          <p:nvPr/>
        </p:nvSpPr>
        <p:spPr>
          <a:xfrm>
            <a:off x="2921000" y="5207000"/>
            <a:ext cx="6350000" cy="381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600" b="1">
                <a:solidFill>
                  <a:srgbClr val="595DD9"/>
                </a:solidFill>
                <a:latin typeface="Microsoft YaHei" panose="020B0503020204020204" pitchFamily="34" charset="-122"/>
              </a:rPr>
              <a:t>不要把 </a:t>
            </a:r>
            <a:r>
              <a:rPr lang="en-US" sz="1600" b="1">
                <a:solidFill>
                  <a:srgbClr val="595DD9"/>
                </a:solidFill>
                <a:latin typeface="Microsoft YaHei" panose="020B0503020204020204" pitchFamily="34" charset="-122"/>
              </a:rPr>
              <a:t>Prompt </a:t>
            </a:r>
            <a:r>
              <a:rPr lang="zh-CN" altLang="en-US" sz="1600" b="1">
                <a:solidFill>
                  <a:srgbClr val="595DD9"/>
                </a:solidFill>
                <a:latin typeface="Microsoft YaHei" panose="020B0503020204020204" pitchFamily="34" charset="-122"/>
              </a:rPr>
              <a:t>中的 </a:t>
            </a:r>
            <a:r>
              <a:rPr lang="en-US" sz="1600" b="1">
                <a:solidFill>
                  <a:srgbClr val="595DD9"/>
                </a:solidFill>
                <a:latin typeface="Microsoft YaHei" panose="020B0503020204020204" pitchFamily="34" charset="-122"/>
              </a:rPr>
              <a:t>userId </a:t>
            </a:r>
            <a:r>
              <a:rPr lang="zh-CN" altLang="en-US" sz="1600" b="1">
                <a:solidFill>
                  <a:srgbClr val="595DD9"/>
                </a:solidFill>
                <a:latin typeface="Microsoft YaHei" panose="020B0503020204020204" pitchFamily="34" charset="-122"/>
              </a:rPr>
              <a:t>当作授权</a:t>
            </a:r>
            <a:endParaRPr lang="en-US" sz="1600" b="1">
              <a:solidFill>
                <a:srgbClr val="595DD9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1612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6091ED-2581-6F5E-C903-5AA858D07926}"/>
              </a:ext>
            </a:extLst>
          </p:cNvPr>
          <p:cNvSpPr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900" b="1">
                <a:solidFill>
                  <a:srgbClr val="9BAE2A"/>
                </a:solidFill>
                <a:latin typeface="Microsoft YaHei" panose="020B0503020204020204" pitchFamily="34" charset="-122"/>
              </a:rPr>
              <a:t>托管接入</a:t>
            </a:r>
            <a:endParaRPr lang="en-US" sz="900" b="1">
              <a:solidFill>
                <a:srgbClr val="9BAE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94A1D7-E442-AA51-9B48-233CA415D4D9}"/>
              </a:ext>
            </a:extLst>
          </p:cNvPr>
          <p:cNvSpPr/>
          <p:nvPr/>
        </p:nvSpPr>
        <p:spPr>
          <a:xfrm>
            <a:off x="685800" y="660400"/>
            <a:ext cx="10541000" cy="558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azure.yaml </a:t>
            </a:r>
            <a:r>
              <a:rPr lang="zh-CN" alt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是部署合同</a:t>
            </a:r>
            <a:endParaRPr lang="en-US" sz="2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35147D-40A3-0DAD-23CF-56627AE50D24}"/>
              </a:ext>
            </a:extLst>
          </p:cNvPr>
          <p:cNvSpPr/>
          <p:nvPr/>
        </p:nvSpPr>
        <p:spPr>
          <a:xfrm>
            <a:off x="11430000" y="6324600"/>
            <a:ext cx="304800" cy="2032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sz="900">
                <a:solidFill>
                  <a:srgbClr val="595D4F"/>
                </a:solidFill>
                <a:latin typeface="Microsoft YaHei" panose="020B0503020204020204" pitchFamily="34" charset="-122"/>
              </a:rPr>
              <a:t>9</a:t>
            </a: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73843FE3-DFDE-BB05-417F-2F902E70D049}"/>
              </a:ext>
            </a:extLst>
          </p:cNvPr>
          <p:cNvSpPr/>
          <p:nvPr/>
        </p:nvSpPr>
        <p:spPr>
          <a:xfrm>
            <a:off x="1206500" y="1841500"/>
            <a:ext cx="2159000" cy="1079500"/>
          </a:xfrm>
          <a:prstGeom prst="hexagon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F5BFFF-DCD5-3373-7C97-45E28EDC75C1}"/>
              </a:ext>
            </a:extLst>
          </p:cNvPr>
          <p:cNvSpPr/>
          <p:nvPr/>
        </p:nvSpPr>
        <p:spPr>
          <a:xfrm>
            <a:off x="1358900" y="2197100"/>
            <a:ext cx="18542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代码目录</a:t>
            </a:r>
            <a:endParaRPr lang="en-US" sz="13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9882E940-8192-A544-3911-B007BBBC9DF4}"/>
              </a:ext>
            </a:extLst>
          </p:cNvPr>
          <p:cNvSpPr/>
          <p:nvPr/>
        </p:nvSpPr>
        <p:spPr>
          <a:xfrm>
            <a:off x="4826000" y="1841500"/>
            <a:ext cx="2159000" cy="1079500"/>
          </a:xfrm>
          <a:prstGeom prst="hexagon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0C0D32-6701-55EC-AF5B-D4C850542074}"/>
              </a:ext>
            </a:extLst>
          </p:cNvPr>
          <p:cNvSpPr/>
          <p:nvPr/>
        </p:nvSpPr>
        <p:spPr>
          <a:xfrm>
            <a:off x="4978400" y="2197100"/>
            <a:ext cx="18542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入口文件</a:t>
            </a:r>
            <a:endParaRPr lang="en-US" sz="13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20D2D083-46DF-B688-1DF0-5B5EE6E4CDF9}"/>
              </a:ext>
            </a:extLst>
          </p:cNvPr>
          <p:cNvSpPr/>
          <p:nvPr/>
        </p:nvSpPr>
        <p:spPr>
          <a:xfrm>
            <a:off x="8445500" y="1841500"/>
            <a:ext cx="2159000" cy="1079500"/>
          </a:xfrm>
          <a:prstGeom prst="hexagon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DAE994-816F-2BAD-A31F-88CD23C5C617}"/>
              </a:ext>
            </a:extLst>
          </p:cNvPr>
          <p:cNvSpPr/>
          <p:nvPr/>
        </p:nvSpPr>
        <p:spPr>
          <a:xfrm>
            <a:off x="8597900" y="2197100"/>
            <a:ext cx="18542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Python 3.13</a:t>
            </a:r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BFC52C26-8BDB-61C5-EA84-EEC146B8FFD4}"/>
              </a:ext>
            </a:extLst>
          </p:cNvPr>
          <p:cNvSpPr/>
          <p:nvPr/>
        </p:nvSpPr>
        <p:spPr>
          <a:xfrm>
            <a:off x="1206500" y="3429000"/>
            <a:ext cx="2159000" cy="1079500"/>
          </a:xfrm>
          <a:prstGeom prst="hexagon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195E35-37E0-44C9-B898-08780F79671F}"/>
              </a:ext>
            </a:extLst>
          </p:cNvPr>
          <p:cNvSpPr/>
          <p:nvPr/>
        </p:nvSpPr>
        <p:spPr>
          <a:xfrm>
            <a:off x="1358900" y="3784600"/>
            <a:ext cx="18542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CPU / Memory</a:t>
            </a:r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EB8BD83C-577E-2F9A-79F6-8B398887B79D}"/>
              </a:ext>
            </a:extLst>
          </p:cNvPr>
          <p:cNvSpPr/>
          <p:nvPr/>
        </p:nvSpPr>
        <p:spPr>
          <a:xfrm>
            <a:off x="4826000" y="3429000"/>
            <a:ext cx="2159000" cy="1079500"/>
          </a:xfrm>
          <a:prstGeom prst="hexagon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092D5D-E8D3-2563-AECF-2C4F33FDCBA9}"/>
              </a:ext>
            </a:extLst>
          </p:cNvPr>
          <p:cNvSpPr/>
          <p:nvPr/>
        </p:nvSpPr>
        <p:spPr>
          <a:xfrm>
            <a:off x="4978400" y="3784600"/>
            <a:ext cx="18542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Responses 2.0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833D97E7-3B56-4378-D007-D5ECAD73E3E6}"/>
              </a:ext>
            </a:extLst>
          </p:cNvPr>
          <p:cNvSpPr/>
          <p:nvPr/>
        </p:nvSpPr>
        <p:spPr>
          <a:xfrm>
            <a:off x="8445500" y="3429000"/>
            <a:ext cx="2159000" cy="1079500"/>
          </a:xfrm>
          <a:prstGeom prst="hexagon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A1E8FD-5A8D-015D-FE95-DF6596E83CFC}"/>
              </a:ext>
            </a:extLst>
          </p:cNvPr>
          <p:cNvSpPr/>
          <p:nvPr/>
        </p:nvSpPr>
        <p:spPr>
          <a:xfrm>
            <a:off x="8597900" y="3784600"/>
            <a:ext cx="18542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模型与 </a:t>
            </a:r>
            <a:r>
              <a:rPr 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Guardrail</a:t>
            </a:r>
          </a:p>
        </p:txBody>
      </p:sp>
    </p:spTree>
    <p:extLst>
      <p:ext uri="{BB962C8B-B14F-4D97-AF65-F5344CB8AC3E}">
        <p14:creationId xmlns:p14="http://schemas.microsoft.com/office/powerpoint/2010/main" val="2939079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209C96-C915-B903-3FC9-C70D838CF851}"/>
              </a:ext>
            </a:extLst>
          </p:cNvPr>
          <p:cNvSpPr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900" b="1">
                <a:solidFill>
                  <a:srgbClr val="9BAE2A"/>
                </a:solidFill>
                <a:latin typeface="Microsoft YaHei" panose="020B0503020204020204" pitchFamily="34" charset="-122"/>
              </a:rPr>
              <a:t>生命周期</a:t>
            </a:r>
            <a:endParaRPr lang="en-US" sz="900" b="1">
              <a:solidFill>
                <a:srgbClr val="9BAE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DCE085-15A9-9491-822A-100D0B47285E}"/>
              </a:ext>
            </a:extLst>
          </p:cNvPr>
          <p:cNvSpPr/>
          <p:nvPr/>
        </p:nvSpPr>
        <p:spPr>
          <a:xfrm>
            <a:off x="685800" y="660400"/>
            <a:ext cx="10541000" cy="558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Provision、Run、Deploy </a:t>
            </a:r>
            <a:r>
              <a:rPr lang="zh-CN" alt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不是同一步</a:t>
            </a:r>
            <a:endParaRPr lang="en-US" sz="2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828B17-336F-1E7A-F96D-3228406DB830}"/>
              </a:ext>
            </a:extLst>
          </p:cNvPr>
          <p:cNvSpPr/>
          <p:nvPr/>
        </p:nvSpPr>
        <p:spPr>
          <a:xfrm>
            <a:off x="11430000" y="6324600"/>
            <a:ext cx="304800" cy="2032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sz="900">
                <a:solidFill>
                  <a:srgbClr val="595D4F"/>
                </a:solidFill>
                <a:latin typeface="Microsoft YaHei" panose="020B0503020204020204" pitchFamily="34" charset="-122"/>
              </a:rPr>
              <a:t>10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0231FD17-BAC1-A4B0-545F-32EDC1AF6810}"/>
              </a:ext>
            </a:extLst>
          </p:cNvPr>
          <p:cNvSpPr/>
          <p:nvPr/>
        </p:nvSpPr>
        <p:spPr>
          <a:xfrm>
            <a:off x="660400" y="2159000"/>
            <a:ext cx="2070100" cy="889000"/>
          </a:xfrm>
          <a:prstGeom prst="chevron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F3B79F-CFC2-28BC-2732-B5D3AA63314C}"/>
              </a:ext>
            </a:extLst>
          </p:cNvPr>
          <p:cNvSpPr/>
          <p:nvPr/>
        </p:nvSpPr>
        <p:spPr>
          <a:xfrm>
            <a:off x="1074420" y="2438400"/>
            <a:ext cx="1283462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Preview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92661B2D-2B64-345F-11BE-027D38FD5302}"/>
              </a:ext>
            </a:extLst>
          </p:cNvPr>
          <p:cNvSpPr/>
          <p:nvPr/>
        </p:nvSpPr>
        <p:spPr>
          <a:xfrm>
            <a:off x="2857500" y="2159000"/>
            <a:ext cx="2070100" cy="889000"/>
          </a:xfrm>
          <a:prstGeom prst="chevron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FD5676-0984-F8D0-4B4D-0846E092EDB8}"/>
              </a:ext>
            </a:extLst>
          </p:cNvPr>
          <p:cNvSpPr/>
          <p:nvPr/>
        </p:nvSpPr>
        <p:spPr>
          <a:xfrm>
            <a:off x="3271520" y="2438400"/>
            <a:ext cx="1283462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Provision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863A7C97-BA05-9163-E31B-559CFD9DCACD}"/>
              </a:ext>
            </a:extLst>
          </p:cNvPr>
          <p:cNvSpPr/>
          <p:nvPr/>
        </p:nvSpPr>
        <p:spPr>
          <a:xfrm>
            <a:off x="5054600" y="2159000"/>
            <a:ext cx="2070100" cy="889000"/>
          </a:xfrm>
          <a:prstGeom prst="chevron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9D0E3E-C635-476C-336F-8FEEE068C709}"/>
              </a:ext>
            </a:extLst>
          </p:cNvPr>
          <p:cNvSpPr/>
          <p:nvPr/>
        </p:nvSpPr>
        <p:spPr>
          <a:xfrm>
            <a:off x="5468620" y="2438400"/>
            <a:ext cx="1283462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Local Run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8A48EC1F-A093-2A13-F425-8C145350EE95}"/>
              </a:ext>
            </a:extLst>
          </p:cNvPr>
          <p:cNvSpPr/>
          <p:nvPr/>
        </p:nvSpPr>
        <p:spPr>
          <a:xfrm>
            <a:off x="7251700" y="2159000"/>
            <a:ext cx="2070100" cy="889000"/>
          </a:xfrm>
          <a:prstGeom prst="chevron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405B7E-E441-42A5-85D3-108ECE14D5DF}"/>
              </a:ext>
            </a:extLst>
          </p:cNvPr>
          <p:cNvSpPr/>
          <p:nvPr/>
        </p:nvSpPr>
        <p:spPr>
          <a:xfrm>
            <a:off x="7665720" y="2438400"/>
            <a:ext cx="1283462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Deploy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8C40F4D4-4FB0-0CFD-4329-CB881175B1E7}"/>
              </a:ext>
            </a:extLst>
          </p:cNvPr>
          <p:cNvSpPr/>
          <p:nvPr/>
        </p:nvSpPr>
        <p:spPr>
          <a:xfrm>
            <a:off x="9448800" y="2159000"/>
            <a:ext cx="2070100" cy="889000"/>
          </a:xfrm>
          <a:prstGeom prst="chevron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B4832A-1F94-6FC8-4FF1-37CFE82D3004}"/>
              </a:ext>
            </a:extLst>
          </p:cNvPr>
          <p:cNvSpPr/>
          <p:nvPr/>
        </p:nvSpPr>
        <p:spPr>
          <a:xfrm>
            <a:off x="9862820" y="2438400"/>
            <a:ext cx="1283462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Route &amp; Invoke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C5F6FD-4587-6347-1211-11B40DC707C7}"/>
              </a:ext>
            </a:extLst>
          </p:cNvPr>
          <p:cNvSpPr/>
          <p:nvPr/>
        </p:nvSpPr>
        <p:spPr>
          <a:xfrm>
            <a:off x="1587500" y="3619500"/>
            <a:ext cx="2794000" cy="279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>
                <a:solidFill>
                  <a:srgbClr val="434D24"/>
                </a:solidFill>
                <a:latin typeface="Microsoft YaHei" panose="020B0503020204020204" pitchFamily="34" charset="-122"/>
              </a:rPr>
              <a:t>基础设施</a:t>
            </a:r>
            <a:endParaRPr lang="en-US" sz="1200" b="1">
              <a:solidFill>
                <a:srgbClr val="434D2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D9B1C6-E55E-DF6F-DCCB-F12C4C25ACCC}"/>
              </a:ext>
            </a:extLst>
          </p:cNvPr>
          <p:cNvSpPr/>
          <p:nvPr/>
        </p:nvSpPr>
        <p:spPr>
          <a:xfrm>
            <a:off x="4953000" y="3619500"/>
            <a:ext cx="2286000" cy="279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>
                <a:solidFill>
                  <a:srgbClr val="9BAE2A"/>
                </a:solidFill>
                <a:latin typeface="Microsoft YaHei" panose="020B0503020204020204" pitchFamily="34" charset="-122"/>
              </a:rPr>
              <a:t>本地兼容性</a:t>
            </a:r>
            <a:endParaRPr lang="en-US" sz="1200" b="1">
              <a:solidFill>
                <a:srgbClr val="9BAE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C47D03-ED6C-76DC-0532-8F71EDB30078}"/>
              </a:ext>
            </a:extLst>
          </p:cNvPr>
          <p:cNvSpPr/>
          <p:nvPr/>
        </p:nvSpPr>
        <p:spPr>
          <a:xfrm>
            <a:off x="8255000" y="3619500"/>
            <a:ext cx="2794000" cy="279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>
                <a:solidFill>
                  <a:srgbClr val="A8784C"/>
                </a:solidFill>
                <a:latin typeface="Microsoft YaHei" panose="020B0503020204020204" pitchFamily="34" charset="-122"/>
              </a:rPr>
              <a:t>版本化运行</a:t>
            </a:r>
            <a:endParaRPr lang="en-US" sz="1200" b="1">
              <a:solidFill>
                <a:srgbClr val="A8784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B73F40-4F62-0A02-EA26-5ADBFA3A0368}"/>
              </a:ext>
            </a:extLst>
          </p:cNvPr>
          <p:cNvSpPr/>
          <p:nvPr/>
        </p:nvSpPr>
        <p:spPr>
          <a:xfrm>
            <a:off x="2857500" y="4635500"/>
            <a:ext cx="6477000" cy="431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000" b="1">
                <a:solidFill>
                  <a:srgbClr val="2F3226"/>
                </a:solidFill>
                <a:latin typeface="Microsoft YaHei" panose="020B0503020204020204" pitchFamily="34" charset="-122"/>
              </a:rPr>
              <a:t>每一步都有独立的通过条件与失败证据</a:t>
            </a:r>
            <a:endParaRPr lang="en-US" sz="20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9837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E3E923-755A-79DF-1B37-FABD7C544C9B}"/>
              </a:ext>
            </a:extLst>
          </p:cNvPr>
          <p:cNvSpPr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900" b="1">
                <a:solidFill>
                  <a:srgbClr val="9BAE2A"/>
                </a:solidFill>
                <a:latin typeface="Microsoft YaHei" panose="020B0503020204020204" pitchFamily="34" charset="-122"/>
              </a:rPr>
              <a:t>生命周期</a:t>
            </a:r>
            <a:endParaRPr lang="en-US" sz="900" b="1">
              <a:solidFill>
                <a:srgbClr val="9BAE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A9474A-20DF-5231-CEA7-2F9387644873}"/>
              </a:ext>
            </a:extLst>
          </p:cNvPr>
          <p:cNvSpPr/>
          <p:nvPr/>
        </p:nvSpPr>
        <p:spPr>
          <a:xfrm>
            <a:off x="685800" y="660400"/>
            <a:ext cx="10541000" cy="558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部署前先过六项 </a:t>
            </a:r>
            <a:r>
              <a:rPr 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Preflight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B3FCC4-8034-3873-40BC-EBD7A83EA9C0}"/>
              </a:ext>
            </a:extLst>
          </p:cNvPr>
          <p:cNvSpPr/>
          <p:nvPr/>
        </p:nvSpPr>
        <p:spPr>
          <a:xfrm>
            <a:off x="11430000" y="6324600"/>
            <a:ext cx="304800" cy="2032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sz="900">
                <a:solidFill>
                  <a:srgbClr val="595D4F"/>
                </a:solidFill>
                <a:latin typeface="Microsoft YaHei" panose="020B0503020204020204" pitchFamily="34" charset="-122"/>
              </a:rPr>
              <a:t>11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835874D-6656-EB81-2B22-2A0B6B39E0A4}"/>
              </a:ext>
            </a:extLst>
          </p:cNvPr>
          <p:cNvSpPr/>
          <p:nvPr/>
        </p:nvSpPr>
        <p:spPr>
          <a:xfrm>
            <a:off x="825500" y="1714500"/>
            <a:ext cx="31750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2FD5B6-B392-8F82-2064-DD2367D0FB3C}"/>
              </a:ext>
            </a:extLst>
          </p:cNvPr>
          <p:cNvSpPr/>
          <p:nvPr/>
        </p:nvSpPr>
        <p:spPr>
          <a:xfrm>
            <a:off x="825500" y="1714500"/>
            <a:ext cx="88900" cy="1397000"/>
          </a:xfrm>
          <a:prstGeom prst="rect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9BCFFA-DEF1-FA59-0C7C-AC3EEB03714B}"/>
              </a:ext>
            </a:extLst>
          </p:cNvPr>
          <p:cNvSpPr/>
          <p:nvPr/>
        </p:nvSpPr>
        <p:spPr>
          <a:xfrm>
            <a:off x="1104900" y="1917700"/>
            <a:ext cx="2717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CN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01  </a:t>
            </a:r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订阅 </a:t>
            </a:r>
            <a:r>
              <a:rPr lang="en-US" altLang="zh-CN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租户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AE8121-E477-4E0A-BE37-4DCC3AD81FDE}"/>
              </a:ext>
            </a:extLst>
          </p:cNvPr>
          <p:cNvSpPr/>
          <p:nvPr/>
        </p:nvSpPr>
        <p:spPr>
          <a:xfrm>
            <a:off x="1104900" y="2349500"/>
            <a:ext cx="2717800" cy="635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确认后再进入下一步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5FE1EA-7571-0134-3C28-48714CD8D230}"/>
              </a:ext>
            </a:extLst>
          </p:cNvPr>
          <p:cNvSpPr/>
          <p:nvPr/>
        </p:nvSpPr>
        <p:spPr>
          <a:xfrm>
            <a:off x="4508500" y="1714500"/>
            <a:ext cx="31750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7DAEA7-629D-699D-26F0-E4E282EB083F}"/>
              </a:ext>
            </a:extLst>
          </p:cNvPr>
          <p:cNvSpPr/>
          <p:nvPr/>
        </p:nvSpPr>
        <p:spPr>
          <a:xfrm>
            <a:off x="4508500" y="1714500"/>
            <a:ext cx="88900" cy="1397000"/>
          </a:xfrm>
          <a:prstGeom prst="rect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6D6F21-197B-40C9-A349-E3E5A6B1D79F}"/>
              </a:ext>
            </a:extLst>
          </p:cNvPr>
          <p:cNvSpPr/>
          <p:nvPr/>
        </p:nvSpPr>
        <p:spPr>
          <a:xfrm>
            <a:off x="4787900" y="1917700"/>
            <a:ext cx="2717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CN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02  </a:t>
            </a:r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区域 </a:t>
            </a:r>
            <a:r>
              <a:rPr lang="en-US" altLang="zh-CN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模型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17077F-A65C-CDD4-FCF5-E2DFE22B5296}"/>
              </a:ext>
            </a:extLst>
          </p:cNvPr>
          <p:cNvSpPr/>
          <p:nvPr/>
        </p:nvSpPr>
        <p:spPr>
          <a:xfrm>
            <a:off x="4787900" y="2349500"/>
            <a:ext cx="2717800" cy="635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确认后再进入下一步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131A7AE-D2EF-CC63-823A-1814217DBCD8}"/>
              </a:ext>
            </a:extLst>
          </p:cNvPr>
          <p:cNvSpPr/>
          <p:nvPr/>
        </p:nvSpPr>
        <p:spPr>
          <a:xfrm>
            <a:off x="8191500" y="1714500"/>
            <a:ext cx="31750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72C74A-C94F-B9E4-F555-4461654ED1AE}"/>
              </a:ext>
            </a:extLst>
          </p:cNvPr>
          <p:cNvSpPr/>
          <p:nvPr/>
        </p:nvSpPr>
        <p:spPr>
          <a:xfrm>
            <a:off x="8191500" y="1714500"/>
            <a:ext cx="88900" cy="1397000"/>
          </a:xfrm>
          <a:prstGeom prst="rect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D3F6D1-2A32-842B-C429-D0E6AC036143}"/>
              </a:ext>
            </a:extLst>
          </p:cNvPr>
          <p:cNvSpPr/>
          <p:nvPr/>
        </p:nvSpPr>
        <p:spPr>
          <a:xfrm>
            <a:off x="8470900" y="1917700"/>
            <a:ext cx="2717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CN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03  </a:t>
            </a:r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配额 </a:t>
            </a:r>
            <a:r>
              <a:rPr lang="en-US" altLang="zh-CN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容量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1AA4AA-5357-4365-0734-B5EA55F31F85}"/>
              </a:ext>
            </a:extLst>
          </p:cNvPr>
          <p:cNvSpPr/>
          <p:nvPr/>
        </p:nvSpPr>
        <p:spPr>
          <a:xfrm>
            <a:off x="8470900" y="2349500"/>
            <a:ext cx="2717800" cy="635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确认后再进入下一步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6FB4EAD-F75A-DC63-4EA2-DB3462CCE168}"/>
              </a:ext>
            </a:extLst>
          </p:cNvPr>
          <p:cNvSpPr/>
          <p:nvPr/>
        </p:nvSpPr>
        <p:spPr>
          <a:xfrm>
            <a:off x="825500" y="3556000"/>
            <a:ext cx="31750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4C1EE2-72BE-9F8D-76D7-848C53BCEDFF}"/>
              </a:ext>
            </a:extLst>
          </p:cNvPr>
          <p:cNvSpPr/>
          <p:nvPr/>
        </p:nvSpPr>
        <p:spPr>
          <a:xfrm>
            <a:off x="825500" y="3556000"/>
            <a:ext cx="88900" cy="1397000"/>
          </a:xfrm>
          <a:prstGeom prst="rect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8DC3A2-194D-12C5-6624-DF42FD1A9400}"/>
              </a:ext>
            </a:extLst>
          </p:cNvPr>
          <p:cNvSpPr/>
          <p:nvPr/>
        </p:nvSpPr>
        <p:spPr>
          <a:xfrm>
            <a:off x="1104900" y="3759200"/>
            <a:ext cx="2717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CN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04  </a:t>
            </a:r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身份 </a:t>
            </a:r>
            <a:r>
              <a:rPr lang="en-US" altLang="zh-CN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/ </a:t>
            </a:r>
            <a:r>
              <a:rPr 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RBAC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77CB03-0C1F-9721-AF32-71863F8AB261}"/>
              </a:ext>
            </a:extLst>
          </p:cNvPr>
          <p:cNvSpPr/>
          <p:nvPr/>
        </p:nvSpPr>
        <p:spPr>
          <a:xfrm>
            <a:off x="1104900" y="4191000"/>
            <a:ext cx="2717800" cy="635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确认后再进入下一步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EB331AC-119A-0704-32C4-A57BABE54746}"/>
              </a:ext>
            </a:extLst>
          </p:cNvPr>
          <p:cNvSpPr/>
          <p:nvPr/>
        </p:nvSpPr>
        <p:spPr>
          <a:xfrm>
            <a:off x="4508500" y="3556000"/>
            <a:ext cx="31750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8BA83E-5031-D873-CD53-2E3079C60087}"/>
              </a:ext>
            </a:extLst>
          </p:cNvPr>
          <p:cNvSpPr/>
          <p:nvPr/>
        </p:nvSpPr>
        <p:spPr>
          <a:xfrm>
            <a:off x="4508500" y="3556000"/>
            <a:ext cx="88900" cy="1397000"/>
          </a:xfrm>
          <a:prstGeom prst="rect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C6038EE-C137-A189-1F03-C742A8782FFD}"/>
              </a:ext>
            </a:extLst>
          </p:cNvPr>
          <p:cNvSpPr/>
          <p:nvPr/>
        </p:nvSpPr>
        <p:spPr>
          <a:xfrm>
            <a:off x="4787900" y="3759200"/>
            <a:ext cx="2717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CN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05  </a:t>
            </a:r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成本边界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8EA4A9A-E4B0-995B-09E2-A856F9A9B430}"/>
              </a:ext>
            </a:extLst>
          </p:cNvPr>
          <p:cNvSpPr/>
          <p:nvPr/>
        </p:nvSpPr>
        <p:spPr>
          <a:xfrm>
            <a:off x="4787900" y="4191000"/>
            <a:ext cx="2717800" cy="635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确认后再进入下一步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8531082-8E2F-6BDF-5CF5-DEB5B4857705}"/>
              </a:ext>
            </a:extLst>
          </p:cNvPr>
          <p:cNvSpPr/>
          <p:nvPr/>
        </p:nvSpPr>
        <p:spPr>
          <a:xfrm>
            <a:off x="8191500" y="3556000"/>
            <a:ext cx="31750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D564C8-5383-94D2-1215-C54B4CB96916}"/>
              </a:ext>
            </a:extLst>
          </p:cNvPr>
          <p:cNvSpPr/>
          <p:nvPr/>
        </p:nvSpPr>
        <p:spPr>
          <a:xfrm>
            <a:off x="8191500" y="3556000"/>
            <a:ext cx="88900" cy="1397000"/>
          </a:xfrm>
          <a:prstGeom prst="rect">
            <a:avLst/>
          </a:prstGeom>
          <a:solidFill>
            <a:srgbClr val="4AA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AC8C5DE-E9E4-15AC-83F0-6E001B3C4CFF}"/>
              </a:ext>
            </a:extLst>
          </p:cNvPr>
          <p:cNvSpPr/>
          <p:nvPr/>
        </p:nvSpPr>
        <p:spPr>
          <a:xfrm>
            <a:off x="8470900" y="3759200"/>
            <a:ext cx="2717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CN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06  </a:t>
            </a:r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独立环境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A2AB67-81C6-224B-425E-5EB9C789F1B8}"/>
              </a:ext>
            </a:extLst>
          </p:cNvPr>
          <p:cNvSpPr/>
          <p:nvPr/>
        </p:nvSpPr>
        <p:spPr>
          <a:xfrm>
            <a:off x="8470900" y="4191000"/>
            <a:ext cx="2717800" cy="635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确认后再进入下一步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9694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196C7C-F59A-5C42-AF42-7600D28AA4C1}"/>
              </a:ext>
            </a:extLst>
          </p:cNvPr>
          <p:cNvSpPr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900" b="1">
                <a:solidFill>
                  <a:srgbClr val="9BAE2A"/>
                </a:solidFill>
                <a:latin typeface="Microsoft YaHei" panose="020B0503020204020204" pitchFamily="34" charset="-122"/>
              </a:rPr>
              <a:t>生命周期</a:t>
            </a:r>
            <a:endParaRPr lang="en-US" sz="900" b="1">
              <a:solidFill>
                <a:srgbClr val="9BAE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F5F18A-E175-F2A5-037C-17919FDF8EC1}"/>
              </a:ext>
            </a:extLst>
          </p:cNvPr>
          <p:cNvSpPr/>
          <p:nvPr/>
        </p:nvSpPr>
        <p:spPr>
          <a:xfrm>
            <a:off x="685800" y="660400"/>
            <a:ext cx="10541000" cy="558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本地行为验证复用同一个 </a:t>
            </a:r>
            <a:r>
              <a:rPr lang="en-US" altLang="zh-CN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Agent</a:t>
            </a:r>
            <a:endParaRPr lang="en-US" sz="2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38CCD4-A1E7-578F-5A62-AE0764126978}"/>
              </a:ext>
            </a:extLst>
          </p:cNvPr>
          <p:cNvSpPr/>
          <p:nvPr/>
        </p:nvSpPr>
        <p:spPr>
          <a:xfrm>
            <a:off x="11430000" y="6324600"/>
            <a:ext cx="304800" cy="2032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sz="900">
                <a:solidFill>
                  <a:srgbClr val="595D4F"/>
                </a:solidFill>
                <a:latin typeface="Microsoft YaHei" panose="020B0503020204020204" pitchFamily="34" charset="-122"/>
              </a:rPr>
              <a:t>12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B73886B-C387-B272-8F8D-2272CBC93F0F}"/>
              </a:ext>
            </a:extLst>
          </p:cNvPr>
          <p:cNvSpPr/>
          <p:nvPr/>
        </p:nvSpPr>
        <p:spPr>
          <a:xfrm>
            <a:off x="469900" y="1612900"/>
            <a:ext cx="7632700" cy="3695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CC4C2-1F7A-9C2E-EFFC-FB02405C158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2003985"/>
            <a:ext cx="7429500" cy="2913529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0DB2374-F19E-0A73-0E0C-11D08F316F3A}"/>
              </a:ext>
            </a:extLst>
          </p:cNvPr>
          <p:cNvSpPr/>
          <p:nvPr/>
        </p:nvSpPr>
        <p:spPr>
          <a:xfrm>
            <a:off x="7937500" y="1841500"/>
            <a:ext cx="3429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3ED3CC-94AD-66A1-88D1-DBDA3002EAA2}"/>
              </a:ext>
            </a:extLst>
          </p:cNvPr>
          <p:cNvSpPr/>
          <p:nvPr/>
        </p:nvSpPr>
        <p:spPr>
          <a:xfrm>
            <a:off x="7937500" y="1841500"/>
            <a:ext cx="88900" cy="1270000"/>
          </a:xfrm>
          <a:prstGeom prst="rect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E47D1A-175D-794E-BB91-1F378799823A}"/>
              </a:ext>
            </a:extLst>
          </p:cNvPr>
          <p:cNvSpPr/>
          <p:nvPr/>
        </p:nvSpPr>
        <p:spPr>
          <a:xfrm>
            <a:off x="8216900" y="2044700"/>
            <a:ext cx="2971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能证明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4DC60F-F26C-3779-66BB-EC8F2567E5E6}"/>
              </a:ext>
            </a:extLst>
          </p:cNvPr>
          <p:cNvSpPr/>
          <p:nvPr/>
        </p:nvSpPr>
        <p:spPr>
          <a:xfrm>
            <a:off x="8216900" y="2476500"/>
            <a:ext cx="2971800" cy="508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Agent 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行为与事件流可用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A21BA52-5931-206B-673A-166973354DCD}"/>
              </a:ext>
            </a:extLst>
          </p:cNvPr>
          <p:cNvSpPr/>
          <p:nvPr/>
        </p:nvSpPr>
        <p:spPr>
          <a:xfrm>
            <a:off x="7937500" y="3492500"/>
            <a:ext cx="3429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E16BAF-8439-A448-81E7-4F43126EFFCF}"/>
              </a:ext>
            </a:extLst>
          </p:cNvPr>
          <p:cNvSpPr/>
          <p:nvPr/>
        </p:nvSpPr>
        <p:spPr>
          <a:xfrm>
            <a:off x="7937500" y="3492500"/>
            <a:ext cx="88900" cy="1270000"/>
          </a:xfrm>
          <a:prstGeom prst="rect">
            <a:avLst/>
          </a:prstGeom>
          <a:solidFill>
            <a:srgbClr val="595D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841C50-CFD7-C826-4BC1-75E6D528F316}"/>
              </a:ext>
            </a:extLst>
          </p:cNvPr>
          <p:cNvSpPr/>
          <p:nvPr/>
        </p:nvSpPr>
        <p:spPr>
          <a:xfrm>
            <a:off x="8216900" y="3695700"/>
            <a:ext cx="2971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不能证明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C06C43-150A-018A-2306-032365F41C15}"/>
              </a:ext>
            </a:extLst>
          </p:cNvPr>
          <p:cNvSpPr/>
          <p:nvPr/>
        </p:nvSpPr>
        <p:spPr>
          <a:xfrm>
            <a:off x="8216900" y="4127500"/>
            <a:ext cx="2971800" cy="508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Hosted 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身份、版本与平台能力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6866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6EFDFA-67A8-6BF6-5456-BAFFC236AD47}"/>
              </a:ext>
            </a:extLst>
          </p:cNvPr>
          <p:cNvSpPr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900" b="1">
                <a:solidFill>
                  <a:srgbClr val="9BAE2A"/>
                </a:solidFill>
                <a:latin typeface="Microsoft YaHei" panose="020B0503020204020204" pitchFamily="34" charset="-122"/>
              </a:rPr>
              <a:t>生命周期</a:t>
            </a:r>
            <a:endParaRPr lang="en-US" sz="900" b="1">
              <a:solidFill>
                <a:srgbClr val="9BAE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D8EECD-0D04-B257-135B-D580D3852CF0}"/>
              </a:ext>
            </a:extLst>
          </p:cNvPr>
          <p:cNvSpPr/>
          <p:nvPr/>
        </p:nvSpPr>
        <p:spPr>
          <a:xfrm>
            <a:off x="685800" y="660400"/>
            <a:ext cx="10541000" cy="558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本地 </a:t>
            </a:r>
            <a:r>
              <a:rPr 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Hosting </a:t>
            </a:r>
            <a:r>
              <a:rPr lang="zh-CN" alt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兼容性门</a:t>
            </a:r>
            <a:endParaRPr lang="en-US" sz="2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0FAAC8-3336-B3B4-9886-3EC71A06F7B9}"/>
              </a:ext>
            </a:extLst>
          </p:cNvPr>
          <p:cNvSpPr/>
          <p:nvPr/>
        </p:nvSpPr>
        <p:spPr>
          <a:xfrm>
            <a:off x="11430000" y="6324600"/>
            <a:ext cx="304800" cy="2032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sz="900">
                <a:solidFill>
                  <a:srgbClr val="595D4F"/>
                </a:solidFill>
                <a:latin typeface="Microsoft YaHei" panose="020B0503020204020204" pitchFamily="34" charset="-122"/>
              </a:rPr>
              <a:t>13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A30C413-CAE3-2721-B52E-22C77CEBBF40}"/>
              </a:ext>
            </a:extLst>
          </p:cNvPr>
          <p:cNvSpPr/>
          <p:nvPr/>
        </p:nvSpPr>
        <p:spPr>
          <a:xfrm>
            <a:off x="825500" y="1587500"/>
            <a:ext cx="10541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42DC53-8CAB-25EC-F94A-99D1C9F3E2A0}"/>
              </a:ext>
            </a:extLst>
          </p:cNvPr>
          <p:cNvSpPr/>
          <p:nvPr/>
        </p:nvSpPr>
        <p:spPr>
          <a:xfrm>
            <a:off x="825500" y="1587500"/>
            <a:ext cx="88900" cy="685800"/>
          </a:xfrm>
          <a:prstGeom prst="rect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F46C16-A629-347B-F00C-6D750EF279AD}"/>
              </a:ext>
            </a:extLst>
          </p:cNvPr>
          <p:cNvSpPr/>
          <p:nvPr/>
        </p:nvSpPr>
        <p:spPr>
          <a:xfrm>
            <a:off x="1104900" y="1771650"/>
            <a:ext cx="10083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✓  服务达到 </a:t>
            </a:r>
            <a:r>
              <a:rPr 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Ready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17A6696-A11C-5A32-CD3E-FA36419BB63E}"/>
              </a:ext>
            </a:extLst>
          </p:cNvPr>
          <p:cNvSpPr/>
          <p:nvPr/>
        </p:nvSpPr>
        <p:spPr>
          <a:xfrm>
            <a:off x="825500" y="2476500"/>
            <a:ext cx="10541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367F03-423F-F193-544F-B9AB7DBC97B9}"/>
              </a:ext>
            </a:extLst>
          </p:cNvPr>
          <p:cNvSpPr/>
          <p:nvPr/>
        </p:nvSpPr>
        <p:spPr>
          <a:xfrm>
            <a:off x="825500" y="2476500"/>
            <a:ext cx="88900" cy="685800"/>
          </a:xfrm>
          <a:prstGeom prst="rect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82A594-AAA1-3D66-7CC1-EC1FDC3C69EF}"/>
              </a:ext>
            </a:extLst>
          </p:cNvPr>
          <p:cNvSpPr/>
          <p:nvPr/>
        </p:nvSpPr>
        <p:spPr>
          <a:xfrm>
            <a:off x="1104900" y="2660650"/>
            <a:ext cx="10083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✓  协议调用成功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C77F706-7382-A63E-5865-C0B11F9D9066}"/>
              </a:ext>
            </a:extLst>
          </p:cNvPr>
          <p:cNvSpPr/>
          <p:nvPr/>
        </p:nvSpPr>
        <p:spPr>
          <a:xfrm>
            <a:off x="825500" y="3365500"/>
            <a:ext cx="10541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EECED1-8534-430D-190E-C9BE648126E5}"/>
              </a:ext>
            </a:extLst>
          </p:cNvPr>
          <p:cNvSpPr/>
          <p:nvPr/>
        </p:nvSpPr>
        <p:spPr>
          <a:xfrm>
            <a:off x="825500" y="3365500"/>
            <a:ext cx="88900" cy="685800"/>
          </a:xfrm>
          <a:prstGeom prst="rect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8F4E75-8DC6-0E62-88A9-E98E315535DA}"/>
              </a:ext>
            </a:extLst>
          </p:cNvPr>
          <p:cNvSpPr/>
          <p:nvPr/>
        </p:nvSpPr>
        <p:spPr>
          <a:xfrm>
            <a:off x="1104900" y="3549650"/>
            <a:ext cx="10083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✓  身份符合预期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30BC718-BFFF-FA34-BBF4-B8012057BB55}"/>
              </a:ext>
            </a:extLst>
          </p:cNvPr>
          <p:cNvSpPr/>
          <p:nvPr/>
        </p:nvSpPr>
        <p:spPr>
          <a:xfrm>
            <a:off x="825500" y="4254500"/>
            <a:ext cx="10541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50C1E0-D490-302A-A0D5-41A886E0A087}"/>
              </a:ext>
            </a:extLst>
          </p:cNvPr>
          <p:cNvSpPr/>
          <p:nvPr/>
        </p:nvSpPr>
        <p:spPr>
          <a:xfrm>
            <a:off x="825500" y="4254500"/>
            <a:ext cx="88900" cy="685800"/>
          </a:xfrm>
          <a:prstGeom prst="rect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47C686-3E24-FB86-D88C-634E0C564C31}"/>
              </a:ext>
            </a:extLst>
          </p:cNvPr>
          <p:cNvSpPr/>
          <p:nvPr/>
        </p:nvSpPr>
        <p:spPr>
          <a:xfrm>
            <a:off x="1104900" y="4438650"/>
            <a:ext cx="10083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✓  缺配置快速失败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77221BA-2089-8434-9533-A037670B9674}"/>
              </a:ext>
            </a:extLst>
          </p:cNvPr>
          <p:cNvSpPr/>
          <p:nvPr/>
        </p:nvSpPr>
        <p:spPr>
          <a:xfrm>
            <a:off x="825500" y="5143500"/>
            <a:ext cx="10541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41B24A-BC99-1DD9-C55D-677BB0E83D83}"/>
              </a:ext>
            </a:extLst>
          </p:cNvPr>
          <p:cNvSpPr/>
          <p:nvPr/>
        </p:nvSpPr>
        <p:spPr>
          <a:xfrm>
            <a:off x="825500" y="5143500"/>
            <a:ext cx="88900" cy="685800"/>
          </a:xfrm>
          <a:prstGeom prst="rect">
            <a:avLst/>
          </a:prstGeom>
          <a:solidFill>
            <a:srgbClr val="4AA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F28D53-3C83-4585-A058-42310AF8FC6C}"/>
              </a:ext>
            </a:extLst>
          </p:cNvPr>
          <p:cNvSpPr/>
          <p:nvPr/>
        </p:nvSpPr>
        <p:spPr>
          <a:xfrm>
            <a:off x="1104900" y="5327650"/>
            <a:ext cx="10083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✓  干净环境可重建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8069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FF4FF7-2EB9-8FA2-2FDA-76C6CB9E5A74}"/>
              </a:ext>
            </a:extLst>
          </p:cNvPr>
          <p:cNvSpPr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900" b="1">
                <a:solidFill>
                  <a:srgbClr val="9BAE2A"/>
                </a:solidFill>
                <a:latin typeface="Microsoft YaHei" panose="020B0503020204020204" pitchFamily="34" charset="-122"/>
              </a:rPr>
              <a:t>部署</a:t>
            </a:r>
            <a:endParaRPr lang="en-US" sz="900" b="1">
              <a:solidFill>
                <a:srgbClr val="9BAE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D0C2BD-A977-29A1-D737-27419205230C}"/>
              </a:ext>
            </a:extLst>
          </p:cNvPr>
          <p:cNvSpPr/>
          <p:nvPr/>
        </p:nvSpPr>
        <p:spPr>
          <a:xfrm>
            <a:off x="685800" y="660400"/>
            <a:ext cx="10541000" cy="558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Deploy </a:t>
            </a:r>
            <a:r>
              <a:rPr lang="zh-CN" alt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的产物是版本与路由</a:t>
            </a:r>
            <a:endParaRPr lang="en-US" sz="2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D104B9-1BEC-DAA8-FB27-0A81BE19BD9D}"/>
              </a:ext>
            </a:extLst>
          </p:cNvPr>
          <p:cNvSpPr/>
          <p:nvPr/>
        </p:nvSpPr>
        <p:spPr>
          <a:xfrm>
            <a:off x="11430000" y="6324600"/>
            <a:ext cx="304800" cy="2032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sz="900">
                <a:solidFill>
                  <a:srgbClr val="595D4F"/>
                </a:solidFill>
                <a:latin typeface="Microsoft YaHei" panose="020B0503020204020204" pitchFamily="34" charset="-122"/>
              </a:rPr>
              <a:t>14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45D38836-E043-D6E4-6114-4787B996179D}"/>
              </a:ext>
            </a:extLst>
          </p:cNvPr>
          <p:cNvSpPr/>
          <p:nvPr/>
        </p:nvSpPr>
        <p:spPr>
          <a:xfrm>
            <a:off x="571500" y="2222500"/>
            <a:ext cx="2108200" cy="889000"/>
          </a:xfrm>
          <a:prstGeom prst="chevron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B51F1B-2E00-24CE-6F83-44B468D9012D}"/>
              </a:ext>
            </a:extLst>
          </p:cNvPr>
          <p:cNvSpPr/>
          <p:nvPr/>
        </p:nvSpPr>
        <p:spPr>
          <a:xfrm>
            <a:off x="993140" y="2501900"/>
            <a:ext cx="1307084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Build vN+1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E9A84816-FBF4-391B-B85A-54453715F159}"/>
              </a:ext>
            </a:extLst>
          </p:cNvPr>
          <p:cNvSpPr/>
          <p:nvPr/>
        </p:nvSpPr>
        <p:spPr>
          <a:xfrm>
            <a:off x="2806700" y="2222500"/>
            <a:ext cx="2108200" cy="889000"/>
          </a:xfrm>
          <a:prstGeom prst="chevron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BFDACA-9F74-ADFB-484B-771F0DD74E4D}"/>
              </a:ext>
            </a:extLst>
          </p:cNvPr>
          <p:cNvSpPr/>
          <p:nvPr/>
        </p:nvSpPr>
        <p:spPr>
          <a:xfrm>
            <a:off x="3228340" y="2501900"/>
            <a:ext cx="1307084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Wait Active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EAE4EDA4-CD81-5191-9F65-9CDE21292795}"/>
              </a:ext>
            </a:extLst>
          </p:cNvPr>
          <p:cNvSpPr/>
          <p:nvPr/>
        </p:nvSpPr>
        <p:spPr>
          <a:xfrm>
            <a:off x="5041900" y="2222500"/>
            <a:ext cx="2108200" cy="889000"/>
          </a:xfrm>
          <a:prstGeom prst="chevron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9A204F-0E0A-1650-0E81-9C9AEB8A45AF}"/>
              </a:ext>
            </a:extLst>
          </p:cNvPr>
          <p:cNvSpPr/>
          <p:nvPr/>
        </p:nvSpPr>
        <p:spPr>
          <a:xfrm>
            <a:off x="5463540" y="2501900"/>
            <a:ext cx="1307084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Route 100%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1D798965-DEC2-14BC-FAE2-28DF95481428}"/>
              </a:ext>
            </a:extLst>
          </p:cNvPr>
          <p:cNvSpPr/>
          <p:nvPr/>
        </p:nvSpPr>
        <p:spPr>
          <a:xfrm>
            <a:off x="7277100" y="2222500"/>
            <a:ext cx="2108200" cy="889000"/>
          </a:xfrm>
          <a:prstGeom prst="chevron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DA9C75-5F44-359F-7580-1829E9EB067B}"/>
              </a:ext>
            </a:extLst>
          </p:cNvPr>
          <p:cNvSpPr/>
          <p:nvPr/>
        </p:nvSpPr>
        <p:spPr>
          <a:xfrm>
            <a:off x="7698740" y="2501900"/>
            <a:ext cx="1307084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Smoke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57B7EC7A-C727-E588-EEA2-8619616FF7D1}"/>
              </a:ext>
            </a:extLst>
          </p:cNvPr>
          <p:cNvSpPr/>
          <p:nvPr/>
        </p:nvSpPr>
        <p:spPr>
          <a:xfrm>
            <a:off x="9512300" y="2222500"/>
            <a:ext cx="2108200" cy="889000"/>
          </a:xfrm>
          <a:prstGeom prst="chevron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CAC1F8-B896-57CA-E0F9-722F51E31690}"/>
              </a:ext>
            </a:extLst>
          </p:cNvPr>
          <p:cNvSpPr/>
          <p:nvPr/>
        </p:nvSpPr>
        <p:spPr>
          <a:xfrm>
            <a:off x="9933940" y="2501900"/>
            <a:ext cx="1307084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Keep / Rollback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5183C0D-B531-004C-A3AE-480CB9B25EF9}"/>
              </a:ext>
            </a:extLst>
          </p:cNvPr>
          <p:cNvSpPr/>
          <p:nvPr/>
        </p:nvSpPr>
        <p:spPr>
          <a:xfrm>
            <a:off x="1968500" y="4191000"/>
            <a:ext cx="35560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7A3357-C350-AC57-0678-C28E8AD4435C}"/>
              </a:ext>
            </a:extLst>
          </p:cNvPr>
          <p:cNvSpPr/>
          <p:nvPr/>
        </p:nvSpPr>
        <p:spPr>
          <a:xfrm>
            <a:off x="1968500" y="4191000"/>
            <a:ext cx="88900" cy="1206500"/>
          </a:xfrm>
          <a:prstGeom prst="rect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EAC875-9EB3-130B-0A31-0C6510A443E1}"/>
              </a:ext>
            </a:extLst>
          </p:cNvPr>
          <p:cNvSpPr/>
          <p:nvPr/>
        </p:nvSpPr>
        <p:spPr>
          <a:xfrm>
            <a:off x="2247900" y="4394200"/>
            <a:ext cx="3098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成功路径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3AA88E-3598-2E68-9391-BB884ED48EB3}"/>
              </a:ext>
            </a:extLst>
          </p:cNvPr>
          <p:cNvSpPr/>
          <p:nvPr/>
        </p:nvSpPr>
        <p:spPr>
          <a:xfrm>
            <a:off x="2247900" y="4826000"/>
            <a:ext cx="3098800" cy="444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保留新版本路由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C68C0AA-1D43-BD9F-33D6-23456DA8C5F6}"/>
              </a:ext>
            </a:extLst>
          </p:cNvPr>
          <p:cNvSpPr/>
          <p:nvPr/>
        </p:nvSpPr>
        <p:spPr>
          <a:xfrm>
            <a:off x="6667500" y="4191000"/>
            <a:ext cx="35560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4B755D-A320-D9D1-70D4-84D7AA5E8D05}"/>
              </a:ext>
            </a:extLst>
          </p:cNvPr>
          <p:cNvSpPr/>
          <p:nvPr/>
        </p:nvSpPr>
        <p:spPr>
          <a:xfrm>
            <a:off x="6667500" y="4191000"/>
            <a:ext cx="88900" cy="1206500"/>
          </a:xfrm>
          <a:prstGeom prst="rect">
            <a:avLst/>
          </a:prstGeom>
          <a:solidFill>
            <a:srgbClr val="595D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BB6C7C-32AF-98A8-89D5-56B13CF8576E}"/>
              </a:ext>
            </a:extLst>
          </p:cNvPr>
          <p:cNvSpPr/>
          <p:nvPr/>
        </p:nvSpPr>
        <p:spPr>
          <a:xfrm>
            <a:off x="6946900" y="4394200"/>
            <a:ext cx="3098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失败路径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746F89-4F66-A14E-A639-011147AB6807}"/>
              </a:ext>
            </a:extLst>
          </p:cNvPr>
          <p:cNvSpPr/>
          <p:nvPr/>
        </p:nvSpPr>
        <p:spPr>
          <a:xfrm>
            <a:off x="6946900" y="4826000"/>
            <a:ext cx="3098800" cy="444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恢复先前版本路由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3818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D9D0AD-B937-05B6-9FC2-0186764AFC5E}"/>
              </a:ext>
            </a:extLst>
          </p:cNvPr>
          <p:cNvSpPr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900" b="1">
                <a:solidFill>
                  <a:srgbClr val="9BAE2A"/>
                </a:solidFill>
                <a:latin typeface="Microsoft YaHei" panose="020B0503020204020204" pitchFamily="34" charset="-122"/>
              </a:rPr>
              <a:t>验证</a:t>
            </a:r>
            <a:endParaRPr lang="en-US" sz="900" b="1">
              <a:solidFill>
                <a:srgbClr val="9BAE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6495E5-E862-0A07-6EDE-5CEF5D12D9D4}"/>
              </a:ext>
            </a:extLst>
          </p:cNvPr>
          <p:cNvSpPr/>
          <p:nvPr/>
        </p:nvSpPr>
        <p:spPr>
          <a:xfrm>
            <a:off x="685800" y="660400"/>
            <a:ext cx="10541000" cy="558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测试金字塔：不同问题需要不同证据</a:t>
            </a:r>
            <a:endParaRPr lang="en-US" sz="2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DC9C04-D4EB-0C78-4F6A-845007EFDF51}"/>
              </a:ext>
            </a:extLst>
          </p:cNvPr>
          <p:cNvSpPr/>
          <p:nvPr/>
        </p:nvSpPr>
        <p:spPr>
          <a:xfrm>
            <a:off x="11430000" y="6324600"/>
            <a:ext cx="304800" cy="2032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sz="900">
                <a:solidFill>
                  <a:srgbClr val="595D4F"/>
                </a:solidFill>
                <a:latin typeface="Microsoft YaHei" panose="020B0503020204020204" pitchFamily="34" charset="-122"/>
              </a:rPr>
              <a:t>15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F8E6E150-88B9-5A20-C06D-5C07159C4569}"/>
              </a:ext>
            </a:extLst>
          </p:cNvPr>
          <p:cNvSpPr/>
          <p:nvPr/>
        </p:nvSpPr>
        <p:spPr>
          <a:xfrm rot="10800000">
            <a:off x="4191000" y="1714500"/>
            <a:ext cx="3810000" cy="863600"/>
          </a:xfrm>
          <a:prstGeom prst="triangle">
            <a:avLst/>
          </a:prstGeom>
          <a:solidFill>
            <a:srgbClr val="4AA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850B5C-613E-5218-1B64-2A0E268D307B}"/>
              </a:ext>
            </a:extLst>
          </p:cNvPr>
          <p:cNvSpPr/>
          <p:nvPr/>
        </p:nvSpPr>
        <p:spPr>
          <a:xfrm>
            <a:off x="4826000" y="1993900"/>
            <a:ext cx="2540000" cy="279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生产监控</a:t>
            </a:r>
            <a:endParaRPr 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604F92C2-302B-7449-A5DB-796B3F421E9C}"/>
              </a:ext>
            </a:extLst>
          </p:cNvPr>
          <p:cNvSpPr/>
          <p:nvPr/>
        </p:nvSpPr>
        <p:spPr>
          <a:xfrm rot="10800000">
            <a:off x="3619500" y="2578100"/>
            <a:ext cx="4953000" cy="863600"/>
          </a:xfrm>
          <a:prstGeom prst="triangle">
            <a:avLst/>
          </a:prstGeom>
          <a:solidFill>
            <a:srgbClr val="A878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EABF50-6BC6-C6EB-A88C-0C5C631D0947}"/>
              </a:ext>
            </a:extLst>
          </p:cNvPr>
          <p:cNvSpPr/>
          <p:nvPr/>
        </p:nvSpPr>
        <p:spPr>
          <a:xfrm>
            <a:off x="4254500" y="2857500"/>
            <a:ext cx="3683000" cy="279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Evaluation / </a:t>
            </a:r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性能</a:t>
            </a:r>
            <a:endParaRPr 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85213F3E-FAF5-EC8B-1776-BF200C1EFF2C}"/>
              </a:ext>
            </a:extLst>
          </p:cNvPr>
          <p:cNvSpPr/>
          <p:nvPr/>
        </p:nvSpPr>
        <p:spPr>
          <a:xfrm rot="10800000">
            <a:off x="2921000" y="3441700"/>
            <a:ext cx="6350000" cy="863600"/>
          </a:xfrm>
          <a:prstGeom prst="triangle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0DC41A-1B08-D334-AC71-2B3233281658}"/>
              </a:ext>
            </a:extLst>
          </p:cNvPr>
          <p:cNvSpPr/>
          <p:nvPr/>
        </p:nvSpPr>
        <p:spPr>
          <a:xfrm>
            <a:off x="3556000" y="3721100"/>
            <a:ext cx="5080000" cy="279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远程 </a:t>
            </a:r>
            <a:r>
              <a:rPr lang="en-US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Smoke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9B927463-50F5-3ED9-0A89-B9A995451C7A}"/>
              </a:ext>
            </a:extLst>
          </p:cNvPr>
          <p:cNvSpPr/>
          <p:nvPr/>
        </p:nvSpPr>
        <p:spPr>
          <a:xfrm rot="10800000">
            <a:off x="2159000" y="4305300"/>
            <a:ext cx="7874000" cy="863600"/>
          </a:xfrm>
          <a:prstGeom prst="triangle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6E82CA-35BF-E7F2-AAEE-D3772CDF92D0}"/>
              </a:ext>
            </a:extLst>
          </p:cNvPr>
          <p:cNvSpPr/>
          <p:nvPr/>
        </p:nvSpPr>
        <p:spPr>
          <a:xfrm>
            <a:off x="2794000" y="4584700"/>
            <a:ext cx="6604000" cy="279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Hosting </a:t>
            </a:r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兼容性</a:t>
            </a:r>
            <a:endParaRPr 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8768C01F-BE85-AEA3-3D16-293B33E8EB40}"/>
              </a:ext>
            </a:extLst>
          </p:cNvPr>
          <p:cNvSpPr/>
          <p:nvPr/>
        </p:nvSpPr>
        <p:spPr>
          <a:xfrm rot="10800000">
            <a:off x="1270000" y="5168900"/>
            <a:ext cx="9652000" cy="863600"/>
          </a:xfrm>
          <a:prstGeom prst="triangle">
            <a:avLst/>
          </a:prstGeom>
          <a:solidFill>
            <a:srgbClr val="2F32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2B8D58-C236-2C49-EA8A-BC1867B07CBF}"/>
              </a:ext>
            </a:extLst>
          </p:cNvPr>
          <p:cNvSpPr/>
          <p:nvPr/>
        </p:nvSpPr>
        <p:spPr>
          <a:xfrm>
            <a:off x="1905000" y="5448300"/>
            <a:ext cx="8382000" cy="279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业务与契约测试</a:t>
            </a:r>
            <a:endParaRPr 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9666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6B88D4-83D3-D4DA-8A54-9D5E00587ACF}"/>
              </a:ext>
            </a:extLst>
          </p:cNvPr>
          <p:cNvSpPr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900" b="1">
                <a:solidFill>
                  <a:srgbClr val="9BAE2A"/>
                </a:solidFill>
                <a:latin typeface="Microsoft YaHei" panose="020B0503020204020204" pitchFamily="34" charset="-122"/>
              </a:rPr>
              <a:t>验证</a:t>
            </a:r>
            <a:endParaRPr lang="en-US" sz="900" b="1">
              <a:solidFill>
                <a:srgbClr val="9BAE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2D14E3-D64B-E309-72CC-33E81FC38919}"/>
              </a:ext>
            </a:extLst>
          </p:cNvPr>
          <p:cNvSpPr/>
          <p:nvPr/>
        </p:nvSpPr>
        <p:spPr>
          <a:xfrm>
            <a:off x="685800" y="660400"/>
            <a:ext cx="10541000" cy="558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Remote Smoke </a:t>
            </a:r>
            <a:r>
              <a:rPr lang="zh-CN" alt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是最便宜的端到端证明</a:t>
            </a:r>
            <a:endParaRPr lang="en-US" sz="2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BFEFD3-DA7B-8EF3-85B5-92D3B314FC1C}"/>
              </a:ext>
            </a:extLst>
          </p:cNvPr>
          <p:cNvSpPr/>
          <p:nvPr/>
        </p:nvSpPr>
        <p:spPr>
          <a:xfrm>
            <a:off x="11430000" y="6324600"/>
            <a:ext cx="304800" cy="2032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sz="900">
                <a:solidFill>
                  <a:srgbClr val="595D4F"/>
                </a:solidFill>
                <a:latin typeface="Microsoft YaHei" panose="020B0503020204020204" pitchFamily="34" charset="-122"/>
              </a:rPr>
              <a:t>16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324CB02-9818-60EE-072C-EBD4EE34A8BE}"/>
              </a:ext>
            </a:extLst>
          </p:cNvPr>
          <p:cNvSpPr/>
          <p:nvPr/>
        </p:nvSpPr>
        <p:spPr>
          <a:xfrm>
            <a:off x="825500" y="1841500"/>
            <a:ext cx="31750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D83332-E7D4-B204-8E9C-74E06951F40A}"/>
              </a:ext>
            </a:extLst>
          </p:cNvPr>
          <p:cNvSpPr/>
          <p:nvPr/>
        </p:nvSpPr>
        <p:spPr>
          <a:xfrm>
            <a:off x="825500" y="1841500"/>
            <a:ext cx="88900" cy="2667000"/>
          </a:xfrm>
          <a:prstGeom prst="rect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72BC90-829C-8B62-577D-20FCAE7E477C}"/>
              </a:ext>
            </a:extLst>
          </p:cNvPr>
          <p:cNvSpPr/>
          <p:nvPr/>
        </p:nvSpPr>
        <p:spPr>
          <a:xfrm>
            <a:off x="1104900" y="2044700"/>
            <a:ext cx="2717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输入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7C5589-3E0D-16CD-F6E7-B5A2544AFC66}"/>
              </a:ext>
            </a:extLst>
          </p:cNvPr>
          <p:cNvSpPr/>
          <p:nvPr/>
        </p:nvSpPr>
        <p:spPr>
          <a:xfrm>
            <a:off x="1104900" y="2476500"/>
            <a:ext cx="2717800" cy="1905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稳定、无敏感数据的短 </a:t>
            </a:r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Prompt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9C69244-6F21-5138-D53C-E4D4432C954E}"/>
              </a:ext>
            </a:extLst>
          </p:cNvPr>
          <p:cNvSpPr/>
          <p:nvPr/>
        </p:nvSpPr>
        <p:spPr>
          <a:xfrm>
            <a:off x="4508500" y="1841500"/>
            <a:ext cx="31750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4178DC-F8CE-0798-708D-58C4D9A52E20}"/>
              </a:ext>
            </a:extLst>
          </p:cNvPr>
          <p:cNvSpPr/>
          <p:nvPr/>
        </p:nvSpPr>
        <p:spPr>
          <a:xfrm>
            <a:off x="4508500" y="1841500"/>
            <a:ext cx="88900" cy="2667000"/>
          </a:xfrm>
          <a:prstGeom prst="rect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28A557-72E2-61BA-5A17-6925CF62F4F9}"/>
              </a:ext>
            </a:extLst>
          </p:cNvPr>
          <p:cNvSpPr/>
          <p:nvPr/>
        </p:nvSpPr>
        <p:spPr>
          <a:xfrm>
            <a:off x="4787900" y="2044700"/>
            <a:ext cx="2717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检查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B24FD9-D636-1C09-CEB3-5FE705027668}"/>
              </a:ext>
            </a:extLst>
          </p:cNvPr>
          <p:cNvSpPr/>
          <p:nvPr/>
        </p:nvSpPr>
        <p:spPr>
          <a:xfrm>
            <a:off x="4787900" y="2476500"/>
            <a:ext cx="2717800" cy="1905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版本 </a:t>
            </a:r>
            <a:r>
              <a:rPr lang="en-US" altLang="zh-CN" sz="1300">
                <a:solidFill>
                  <a:srgbClr val="595D4F"/>
                </a:solidFill>
                <a:latin typeface="Microsoft YaHei" panose="020B0503020204020204" pitchFamily="34" charset="-122"/>
              </a:rPr>
              <a:t>/ </a:t>
            </a:r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endpoint / 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身份 </a:t>
            </a:r>
            <a:r>
              <a:rPr lang="en-US" altLang="zh-CN" sz="1300">
                <a:solidFill>
                  <a:srgbClr val="595D4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延迟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CC7E379-E3F6-8838-B099-17E12611D210}"/>
              </a:ext>
            </a:extLst>
          </p:cNvPr>
          <p:cNvSpPr/>
          <p:nvPr/>
        </p:nvSpPr>
        <p:spPr>
          <a:xfrm>
            <a:off x="8191500" y="1841500"/>
            <a:ext cx="31750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41EF2C-96E6-A20C-1BC7-3E77B266A088}"/>
              </a:ext>
            </a:extLst>
          </p:cNvPr>
          <p:cNvSpPr/>
          <p:nvPr/>
        </p:nvSpPr>
        <p:spPr>
          <a:xfrm>
            <a:off x="8191500" y="1841500"/>
            <a:ext cx="88900" cy="2667000"/>
          </a:xfrm>
          <a:prstGeom prst="rect">
            <a:avLst/>
          </a:prstGeom>
          <a:solidFill>
            <a:srgbClr val="A878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D700E5-B0B6-4971-047B-8808E30FF49E}"/>
              </a:ext>
            </a:extLst>
          </p:cNvPr>
          <p:cNvSpPr/>
          <p:nvPr/>
        </p:nvSpPr>
        <p:spPr>
          <a:xfrm>
            <a:off x="8470900" y="2044700"/>
            <a:ext cx="2717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输出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C5E4FD-49A1-5D4D-418A-B6148FFD3703}"/>
              </a:ext>
            </a:extLst>
          </p:cNvPr>
          <p:cNvSpPr/>
          <p:nvPr/>
        </p:nvSpPr>
        <p:spPr>
          <a:xfrm>
            <a:off x="8470900" y="2476500"/>
            <a:ext cx="2717800" cy="1905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明确退出码与行为断言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536D33-C20D-04BF-4ED3-83503BE1F7AF}"/>
              </a:ext>
            </a:extLst>
          </p:cNvPr>
          <p:cNvSpPr/>
          <p:nvPr/>
        </p:nvSpPr>
        <p:spPr>
          <a:xfrm>
            <a:off x="2921000" y="5143500"/>
            <a:ext cx="6350000" cy="381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600" b="1">
                <a:solidFill>
                  <a:srgbClr val="595DD9"/>
                </a:solidFill>
                <a:latin typeface="Microsoft YaHei" panose="020B0503020204020204" pitchFamily="34" charset="-122"/>
              </a:rPr>
              <a:t>失败时先看目标版本的 </a:t>
            </a:r>
            <a:r>
              <a:rPr lang="en-US" sz="1600" b="1">
                <a:solidFill>
                  <a:srgbClr val="595DD9"/>
                </a:solidFill>
                <a:latin typeface="Microsoft YaHei" panose="020B0503020204020204" pitchFamily="34" charset="-122"/>
              </a:rPr>
              <a:t>Session </a:t>
            </a:r>
            <a:r>
              <a:rPr lang="zh-CN" altLang="en-US" sz="1600" b="1">
                <a:solidFill>
                  <a:srgbClr val="595DD9"/>
                </a:solidFill>
                <a:latin typeface="Microsoft YaHei" panose="020B0503020204020204" pitchFamily="34" charset="-122"/>
              </a:rPr>
              <a:t>日志</a:t>
            </a:r>
            <a:endParaRPr lang="en-US" sz="1600" b="1">
              <a:solidFill>
                <a:srgbClr val="595DD9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6554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239D78-B17F-E3F9-0B29-8847FDDD493B}"/>
              </a:ext>
            </a:extLst>
          </p:cNvPr>
          <p:cNvSpPr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900" b="1">
                <a:solidFill>
                  <a:srgbClr val="9BAE2A"/>
                </a:solidFill>
                <a:latin typeface="Microsoft YaHei" panose="020B0503020204020204" pitchFamily="34" charset="-122"/>
              </a:rPr>
              <a:t>验证</a:t>
            </a:r>
            <a:endParaRPr lang="en-US" sz="900" b="1">
              <a:solidFill>
                <a:srgbClr val="9BAE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4874F7-6F6F-EA9F-B710-4E28337E6C8F}"/>
              </a:ext>
            </a:extLst>
          </p:cNvPr>
          <p:cNvSpPr/>
          <p:nvPr/>
        </p:nvSpPr>
        <p:spPr>
          <a:xfrm>
            <a:off x="685800" y="660400"/>
            <a:ext cx="10541000" cy="558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本地与 </a:t>
            </a:r>
            <a:r>
              <a:rPr 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Hosted </a:t>
            </a:r>
            <a:r>
              <a:rPr lang="zh-CN" alt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对比定位部署偏差</a:t>
            </a:r>
            <a:endParaRPr lang="en-US" sz="2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A87FE6-F52F-A48A-EA66-71EC151A3E91}"/>
              </a:ext>
            </a:extLst>
          </p:cNvPr>
          <p:cNvSpPr/>
          <p:nvPr/>
        </p:nvSpPr>
        <p:spPr>
          <a:xfrm>
            <a:off x="11430000" y="6324600"/>
            <a:ext cx="304800" cy="2032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sz="900">
                <a:solidFill>
                  <a:srgbClr val="595D4F"/>
                </a:solidFill>
                <a:latin typeface="Microsoft YaHei" panose="020B0503020204020204" pitchFamily="34" charset="-122"/>
              </a:rPr>
              <a:t>17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7586895-BE5B-9A75-F21A-8340215C410B}"/>
              </a:ext>
            </a:extLst>
          </p:cNvPr>
          <p:cNvSpPr/>
          <p:nvPr/>
        </p:nvSpPr>
        <p:spPr>
          <a:xfrm>
            <a:off x="1016000" y="1905000"/>
            <a:ext cx="4318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6DC969-ED21-6085-5716-8D26F28F7B1D}"/>
              </a:ext>
            </a:extLst>
          </p:cNvPr>
          <p:cNvSpPr/>
          <p:nvPr/>
        </p:nvSpPr>
        <p:spPr>
          <a:xfrm>
            <a:off x="1016000" y="1905000"/>
            <a:ext cx="88900" cy="2794000"/>
          </a:xfrm>
          <a:prstGeom prst="rect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EB84DD-AC13-106E-72E8-3FA26239C4CB}"/>
              </a:ext>
            </a:extLst>
          </p:cNvPr>
          <p:cNvSpPr/>
          <p:nvPr/>
        </p:nvSpPr>
        <p:spPr>
          <a:xfrm>
            <a:off x="1295400" y="2108200"/>
            <a:ext cx="3860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Local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02AEF7-4000-5E8B-8529-9E2E6087F22F}"/>
              </a:ext>
            </a:extLst>
          </p:cNvPr>
          <p:cNvSpPr/>
          <p:nvPr/>
        </p:nvSpPr>
        <p:spPr>
          <a:xfrm>
            <a:off x="1295400" y="2540000"/>
            <a:ext cx="3860800" cy="2032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样例 </a:t>
            </a:r>
            <a:r>
              <a:rPr lang="en-US" altLang="zh-CN" sz="1300">
                <a:solidFill>
                  <a:srgbClr val="595D4F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300">
                <a:solidFill>
                  <a:srgbClr val="595D4F"/>
                </a:solidFill>
                <a:latin typeface="Microsoft YaHei" panose="020B0503020204020204" pitchFamily="34" charset="-122"/>
              </a:rPr>
              <a:t>4.70 s</a:t>
            </a:r>
          </a:p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样例 </a:t>
            </a:r>
            <a:r>
              <a:rPr lang="en-US" altLang="zh-CN" sz="1300">
                <a:solidFill>
                  <a:srgbClr val="595D4F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300">
                <a:solidFill>
                  <a:srgbClr val="595D4F"/>
                </a:solidFill>
                <a:latin typeface="Microsoft YaHei" panose="020B0503020204020204" pitchFamily="34" charset="-122"/>
              </a:rPr>
              <a:t>2.20 s</a:t>
            </a:r>
          </a:p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开发身份与本地进程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3ABE915-786F-645F-53E0-7E48233865DD}"/>
              </a:ext>
            </a:extLst>
          </p:cNvPr>
          <p:cNvSpPr/>
          <p:nvPr/>
        </p:nvSpPr>
        <p:spPr>
          <a:xfrm>
            <a:off x="6858000" y="1905000"/>
            <a:ext cx="4318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CEB979-B8D3-36A5-2D81-29337E6BC26C}"/>
              </a:ext>
            </a:extLst>
          </p:cNvPr>
          <p:cNvSpPr/>
          <p:nvPr/>
        </p:nvSpPr>
        <p:spPr>
          <a:xfrm>
            <a:off x="6858000" y="1905000"/>
            <a:ext cx="88900" cy="2794000"/>
          </a:xfrm>
          <a:prstGeom prst="rect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B34BF2-840A-21E4-9FAB-A3F13ACDA91D}"/>
              </a:ext>
            </a:extLst>
          </p:cNvPr>
          <p:cNvSpPr/>
          <p:nvPr/>
        </p:nvSpPr>
        <p:spPr>
          <a:xfrm>
            <a:off x="7137400" y="2108200"/>
            <a:ext cx="3860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Hosted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6DB5A5-939C-49F2-C63F-E750BE0CB9C0}"/>
              </a:ext>
            </a:extLst>
          </p:cNvPr>
          <p:cNvSpPr/>
          <p:nvPr/>
        </p:nvSpPr>
        <p:spPr>
          <a:xfrm>
            <a:off x="7137400" y="2540000"/>
            <a:ext cx="3860800" cy="2032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样例 </a:t>
            </a:r>
            <a:r>
              <a:rPr lang="en-US" altLang="zh-CN" sz="1300">
                <a:solidFill>
                  <a:srgbClr val="595D4F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300">
                <a:solidFill>
                  <a:srgbClr val="595D4F"/>
                </a:solidFill>
                <a:latin typeface="Microsoft YaHei" panose="020B0503020204020204" pitchFamily="34" charset="-122"/>
              </a:rPr>
              <a:t>12.66 s</a:t>
            </a:r>
          </a:p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样例 </a:t>
            </a:r>
            <a:r>
              <a:rPr lang="en-US" altLang="zh-CN" sz="1300">
                <a:solidFill>
                  <a:srgbClr val="595D4F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300">
                <a:solidFill>
                  <a:srgbClr val="595D4F"/>
                </a:solidFill>
                <a:latin typeface="Microsoft YaHei" panose="020B0503020204020204" pitchFamily="34" charset="-122"/>
              </a:rPr>
              <a:t>14.59 s</a:t>
            </a:r>
          </a:p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托管运行时与远程网络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F48CF2-F9DA-CF5B-CD92-B669BE603E21}"/>
              </a:ext>
            </a:extLst>
          </p:cNvPr>
          <p:cNvSpPr/>
          <p:nvPr/>
        </p:nvSpPr>
        <p:spPr>
          <a:xfrm>
            <a:off x="4000500" y="5207000"/>
            <a:ext cx="4191000" cy="355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700" b="1">
                <a:solidFill>
                  <a:srgbClr val="595DD9"/>
                </a:solidFill>
                <a:latin typeface="Microsoft YaHei" panose="020B0503020204020204" pitchFamily="34" charset="-122"/>
              </a:rPr>
              <a:t>2 </a:t>
            </a:r>
            <a:r>
              <a:rPr lang="zh-CN" altLang="en-US" sz="1700" b="1">
                <a:solidFill>
                  <a:srgbClr val="595DD9"/>
                </a:solidFill>
                <a:latin typeface="Microsoft YaHei" panose="020B0503020204020204" pitchFamily="34" charset="-122"/>
              </a:rPr>
              <a:t>条观察值 ≠ 延迟分布</a:t>
            </a:r>
            <a:endParaRPr lang="en-US" sz="1700" b="1">
              <a:solidFill>
                <a:srgbClr val="595DD9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28886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A38BDE-ECDE-15EB-C0A6-9075CEB0844C}"/>
              </a:ext>
            </a:extLst>
          </p:cNvPr>
          <p:cNvSpPr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900" b="1">
                <a:solidFill>
                  <a:srgbClr val="9BAE2A"/>
                </a:solidFill>
                <a:latin typeface="Microsoft YaHei" panose="020B0503020204020204" pitchFamily="34" charset="-122"/>
              </a:rPr>
              <a:t>验证</a:t>
            </a:r>
            <a:endParaRPr lang="en-US" sz="900" b="1">
              <a:solidFill>
                <a:srgbClr val="9BAE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73F9E1-6894-38D1-99B9-92A2528DAE74}"/>
              </a:ext>
            </a:extLst>
          </p:cNvPr>
          <p:cNvSpPr/>
          <p:nvPr/>
        </p:nvSpPr>
        <p:spPr>
          <a:xfrm>
            <a:off x="685800" y="660400"/>
            <a:ext cx="10541000" cy="558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Evaluation </a:t>
            </a:r>
            <a:r>
              <a:rPr lang="zh-CN" alt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把样例升级为版本门禁</a:t>
            </a:r>
            <a:endParaRPr lang="en-US" sz="2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C59AFB-0883-A050-EB56-59FE43AE692D}"/>
              </a:ext>
            </a:extLst>
          </p:cNvPr>
          <p:cNvSpPr/>
          <p:nvPr/>
        </p:nvSpPr>
        <p:spPr>
          <a:xfrm>
            <a:off x="11430000" y="6324600"/>
            <a:ext cx="304800" cy="2032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sz="900">
                <a:solidFill>
                  <a:srgbClr val="595D4F"/>
                </a:solidFill>
                <a:latin typeface="Microsoft YaHei" panose="020B0503020204020204" pitchFamily="34" charset="-122"/>
              </a:rPr>
              <a:t>18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FDF33B4E-62A7-1227-D11D-78C1171113CB}"/>
              </a:ext>
            </a:extLst>
          </p:cNvPr>
          <p:cNvSpPr/>
          <p:nvPr/>
        </p:nvSpPr>
        <p:spPr>
          <a:xfrm>
            <a:off x="571500" y="2159000"/>
            <a:ext cx="2108200" cy="889000"/>
          </a:xfrm>
          <a:prstGeom prst="chevron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B17DBE-5A10-AB36-282A-036029DB4BBA}"/>
              </a:ext>
            </a:extLst>
          </p:cNvPr>
          <p:cNvSpPr/>
          <p:nvPr/>
        </p:nvSpPr>
        <p:spPr>
          <a:xfrm>
            <a:off x="993140" y="2438400"/>
            <a:ext cx="1307084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Golden Dataset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9E35AB5D-C67A-0731-A986-5383EADC6AAE}"/>
              </a:ext>
            </a:extLst>
          </p:cNvPr>
          <p:cNvSpPr/>
          <p:nvPr/>
        </p:nvSpPr>
        <p:spPr>
          <a:xfrm>
            <a:off x="2806700" y="2159000"/>
            <a:ext cx="2108200" cy="889000"/>
          </a:xfrm>
          <a:prstGeom prst="chevron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1BC05C-0AD7-80C8-7F03-04510356795B}"/>
              </a:ext>
            </a:extLst>
          </p:cNvPr>
          <p:cNvSpPr/>
          <p:nvPr/>
        </p:nvSpPr>
        <p:spPr>
          <a:xfrm>
            <a:off x="3228340" y="2438400"/>
            <a:ext cx="1307084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Agent Version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D21F09F1-B432-4A0D-AF6A-53A1D320D085}"/>
              </a:ext>
            </a:extLst>
          </p:cNvPr>
          <p:cNvSpPr/>
          <p:nvPr/>
        </p:nvSpPr>
        <p:spPr>
          <a:xfrm>
            <a:off x="5041900" y="2159000"/>
            <a:ext cx="2108200" cy="889000"/>
          </a:xfrm>
          <a:prstGeom prst="chevron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6C5CBC-ED14-31FB-BD21-6809618BFE8E}"/>
              </a:ext>
            </a:extLst>
          </p:cNvPr>
          <p:cNvSpPr/>
          <p:nvPr/>
        </p:nvSpPr>
        <p:spPr>
          <a:xfrm>
            <a:off x="5463540" y="2438400"/>
            <a:ext cx="1307084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Evaluators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AB675BA5-3494-8B11-1924-2FB17F3AFEEA}"/>
              </a:ext>
            </a:extLst>
          </p:cNvPr>
          <p:cNvSpPr/>
          <p:nvPr/>
        </p:nvSpPr>
        <p:spPr>
          <a:xfrm>
            <a:off x="7277100" y="2159000"/>
            <a:ext cx="2108200" cy="889000"/>
          </a:xfrm>
          <a:prstGeom prst="chevron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1BD464-174A-1288-8BE5-E0CE6C5565CA}"/>
              </a:ext>
            </a:extLst>
          </p:cNvPr>
          <p:cNvSpPr/>
          <p:nvPr/>
        </p:nvSpPr>
        <p:spPr>
          <a:xfrm>
            <a:off x="7698740" y="2438400"/>
            <a:ext cx="1307084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Scores + Reason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EE961CBC-8539-63DB-1656-0E0AAB04DB15}"/>
              </a:ext>
            </a:extLst>
          </p:cNvPr>
          <p:cNvSpPr/>
          <p:nvPr/>
        </p:nvSpPr>
        <p:spPr>
          <a:xfrm>
            <a:off x="9512300" y="2159000"/>
            <a:ext cx="2108200" cy="889000"/>
          </a:xfrm>
          <a:prstGeom prst="chevron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AE1C9F-A081-9472-D720-1E8326F8A307}"/>
              </a:ext>
            </a:extLst>
          </p:cNvPr>
          <p:cNvSpPr/>
          <p:nvPr/>
        </p:nvSpPr>
        <p:spPr>
          <a:xfrm>
            <a:off x="9933940" y="2438400"/>
            <a:ext cx="1307084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Human Review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B1D575B-BD9C-3C8B-803E-B2F611337E1D}"/>
              </a:ext>
            </a:extLst>
          </p:cNvPr>
          <p:cNvSpPr/>
          <p:nvPr/>
        </p:nvSpPr>
        <p:spPr>
          <a:xfrm>
            <a:off x="1460500" y="4191000"/>
            <a:ext cx="41910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9A1666-72F8-3026-1104-D6A856548F66}"/>
              </a:ext>
            </a:extLst>
          </p:cNvPr>
          <p:cNvSpPr/>
          <p:nvPr/>
        </p:nvSpPr>
        <p:spPr>
          <a:xfrm>
            <a:off x="1460500" y="4191000"/>
            <a:ext cx="88900" cy="1206500"/>
          </a:xfrm>
          <a:prstGeom prst="rect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E6E42F-E15F-3E61-82A8-D09198862198}"/>
              </a:ext>
            </a:extLst>
          </p:cNvPr>
          <p:cNvSpPr/>
          <p:nvPr/>
        </p:nvSpPr>
        <p:spPr>
          <a:xfrm>
            <a:off x="1739900" y="4394200"/>
            <a:ext cx="3733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可比性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4BE9EA-BFFD-06FC-867D-B8B8D6637216}"/>
              </a:ext>
            </a:extLst>
          </p:cNvPr>
          <p:cNvSpPr/>
          <p:nvPr/>
        </p:nvSpPr>
        <p:spPr>
          <a:xfrm>
            <a:off x="1739900" y="4826000"/>
            <a:ext cx="3733800" cy="444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固定版本与数据谱系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27A8AD3-8CE3-A61F-FB3D-76CA48F86235}"/>
              </a:ext>
            </a:extLst>
          </p:cNvPr>
          <p:cNvSpPr/>
          <p:nvPr/>
        </p:nvSpPr>
        <p:spPr>
          <a:xfrm>
            <a:off x="6540500" y="4191000"/>
            <a:ext cx="41910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E1FEF5-F077-11FE-92E9-7F21EA0490C1}"/>
              </a:ext>
            </a:extLst>
          </p:cNvPr>
          <p:cNvSpPr/>
          <p:nvPr/>
        </p:nvSpPr>
        <p:spPr>
          <a:xfrm>
            <a:off x="6540500" y="4191000"/>
            <a:ext cx="88900" cy="1206500"/>
          </a:xfrm>
          <a:prstGeom prst="rect">
            <a:avLst/>
          </a:prstGeom>
          <a:solidFill>
            <a:srgbClr val="4AA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A14DB0-7A67-A4B7-54D8-C1A1DE80704B}"/>
              </a:ext>
            </a:extLst>
          </p:cNvPr>
          <p:cNvSpPr/>
          <p:nvPr/>
        </p:nvSpPr>
        <p:spPr>
          <a:xfrm>
            <a:off x="6819900" y="4394200"/>
            <a:ext cx="3733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可解释性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A8B8BE-634D-5487-310B-89EBB26CCDB0}"/>
              </a:ext>
            </a:extLst>
          </p:cNvPr>
          <p:cNvSpPr/>
          <p:nvPr/>
        </p:nvSpPr>
        <p:spPr>
          <a:xfrm>
            <a:off x="6819900" y="4826000"/>
            <a:ext cx="3733800" cy="444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逐行查看 </a:t>
            </a:r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score 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与 </a:t>
            </a:r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reason</a:t>
            </a:r>
          </a:p>
        </p:txBody>
      </p:sp>
    </p:spTree>
    <p:extLst>
      <p:ext uri="{BB962C8B-B14F-4D97-AF65-F5344CB8AC3E}">
        <p14:creationId xmlns:p14="http://schemas.microsoft.com/office/powerpoint/2010/main" val="1311284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DA41E0-C7B4-9A81-D991-697FBBC49F3E}"/>
              </a:ext>
            </a:extLst>
          </p:cNvPr>
          <p:cNvSpPr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900" b="1">
                <a:solidFill>
                  <a:srgbClr val="9BAE2A"/>
                </a:solidFill>
                <a:latin typeface="Microsoft YaHei" panose="020B0503020204020204" pitchFamily="34" charset="-122"/>
              </a:rPr>
              <a:t>验证</a:t>
            </a:r>
            <a:endParaRPr lang="en-US" sz="900" b="1">
              <a:solidFill>
                <a:srgbClr val="9BAE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EE6EC9-4373-E330-9AC1-A717BD053F14}"/>
              </a:ext>
            </a:extLst>
          </p:cNvPr>
          <p:cNvSpPr/>
          <p:nvPr/>
        </p:nvSpPr>
        <p:spPr>
          <a:xfrm>
            <a:off x="685800" y="660400"/>
            <a:ext cx="10541000" cy="558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发布门禁不是单一分数</a:t>
            </a:r>
            <a:endParaRPr lang="en-US" sz="2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2D9C55-DB70-BA10-24B5-73D77D7F98B4}"/>
              </a:ext>
            </a:extLst>
          </p:cNvPr>
          <p:cNvSpPr/>
          <p:nvPr/>
        </p:nvSpPr>
        <p:spPr>
          <a:xfrm>
            <a:off x="11430000" y="6324600"/>
            <a:ext cx="304800" cy="2032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sz="900">
                <a:solidFill>
                  <a:srgbClr val="595D4F"/>
                </a:solidFill>
                <a:latin typeface="Microsoft YaHei" panose="020B0503020204020204" pitchFamily="34" charset="-122"/>
              </a:rPr>
              <a:t>19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A05C1C-6C84-3820-9E15-5A83452E7221}"/>
              </a:ext>
            </a:extLst>
          </p:cNvPr>
          <p:cNvSpPr/>
          <p:nvPr/>
        </p:nvSpPr>
        <p:spPr>
          <a:xfrm>
            <a:off x="1143000" y="1460500"/>
            <a:ext cx="9906000" cy="482600"/>
          </a:xfrm>
          <a:prstGeom prst="rect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402682-A07B-4616-39BB-89513373FBE5}"/>
              </a:ext>
            </a:extLst>
          </p:cNvPr>
          <p:cNvSpPr/>
          <p:nvPr/>
        </p:nvSpPr>
        <p:spPr>
          <a:xfrm>
            <a:off x="1460500" y="1600200"/>
            <a:ext cx="3302000" cy="254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门禁项</a:t>
            </a:r>
            <a:endParaRPr lang="en-US" sz="11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3E10E0-3BAF-58A9-A814-3F9AD87EC004}"/>
              </a:ext>
            </a:extLst>
          </p:cNvPr>
          <p:cNvSpPr/>
          <p:nvPr/>
        </p:nvSpPr>
        <p:spPr>
          <a:xfrm>
            <a:off x="4953000" y="1600200"/>
            <a:ext cx="3302000" cy="254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证据 </a:t>
            </a:r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阈值</a:t>
            </a:r>
            <a:endParaRPr lang="en-US" sz="11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6799AC-AEE4-F8A5-685D-866341DC7E5E}"/>
              </a:ext>
            </a:extLst>
          </p:cNvPr>
          <p:cNvSpPr/>
          <p:nvPr/>
        </p:nvSpPr>
        <p:spPr>
          <a:xfrm>
            <a:off x="9144000" y="1600200"/>
            <a:ext cx="1397000" cy="254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</a:rPr>
              <a:t>决定</a:t>
            </a:r>
            <a:endParaRPr lang="en-US" sz="11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4BD494-F9FE-1330-3046-7E1071483D7D}"/>
              </a:ext>
            </a:extLst>
          </p:cNvPr>
          <p:cNvSpPr/>
          <p:nvPr/>
        </p:nvSpPr>
        <p:spPr>
          <a:xfrm>
            <a:off x="1143000" y="1943100"/>
            <a:ext cx="9906000" cy="609600"/>
          </a:xfrm>
          <a:prstGeom prst="rect">
            <a:avLst/>
          </a:prstGeom>
          <a:solidFill>
            <a:srgbClr val="EFF2EE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A9BBF7-ABEC-E190-DAF5-B45E940D0FFA}"/>
              </a:ext>
            </a:extLst>
          </p:cNvPr>
          <p:cNvSpPr/>
          <p:nvPr/>
        </p:nvSpPr>
        <p:spPr>
          <a:xfrm>
            <a:off x="1460500" y="2108200"/>
            <a:ext cx="3302000" cy="279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200" b="1">
                <a:solidFill>
                  <a:srgbClr val="2F3226"/>
                </a:solidFill>
                <a:latin typeface="Microsoft YaHei" panose="020B0503020204020204" pitchFamily="34" charset="-122"/>
              </a:rPr>
              <a:t>关键业务回归</a:t>
            </a:r>
            <a:endParaRPr lang="en-US" sz="12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CE8A90-155E-85E2-19AD-907573FB6628}"/>
              </a:ext>
            </a:extLst>
          </p:cNvPr>
          <p:cNvSpPr/>
          <p:nvPr/>
        </p:nvSpPr>
        <p:spPr>
          <a:xfrm>
            <a:off x="4953000" y="2108200"/>
            <a:ext cx="3302000" cy="279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200">
                <a:solidFill>
                  <a:srgbClr val="2F3226"/>
                </a:solidFill>
                <a:latin typeface="Microsoft YaHei" panose="020B0503020204020204" pitchFamily="34" charset="-122"/>
              </a:rPr>
              <a:t>100%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811090-6B70-19EC-39D0-5B9721439E1A}"/>
              </a:ext>
            </a:extLst>
          </p:cNvPr>
          <p:cNvSpPr/>
          <p:nvPr/>
        </p:nvSpPr>
        <p:spPr>
          <a:xfrm>
            <a:off x="9144000" y="2108200"/>
            <a:ext cx="1397000" cy="279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sz="1100" b="1">
                <a:solidFill>
                  <a:srgbClr val="9BAE2A"/>
                </a:solidFill>
                <a:latin typeface="Microsoft YaHei" panose="020B0503020204020204" pitchFamily="34" charset="-122"/>
              </a:rPr>
              <a:t>PASS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16EE05-FC96-0407-8AD1-F63F022C401B}"/>
              </a:ext>
            </a:extLst>
          </p:cNvPr>
          <p:cNvSpPr/>
          <p:nvPr/>
        </p:nvSpPr>
        <p:spPr>
          <a:xfrm>
            <a:off x="1143000" y="2730500"/>
            <a:ext cx="9906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E42416-053B-26E3-87E6-0CD1663AA8C2}"/>
              </a:ext>
            </a:extLst>
          </p:cNvPr>
          <p:cNvSpPr/>
          <p:nvPr/>
        </p:nvSpPr>
        <p:spPr>
          <a:xfrm>
            <a:off x="1460500" y="2895600"/>
            <a:ext cx="3302000" cy="279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200" b="1">
                <a:solidFill>
                  <a:srgbClr val="2F3226"/>
                </a:solidFill>
                <a:latin typeface="Microsoft YaHei" panose="020B0503020204020204" pitchFamily="34" charset="-122"/>
              </a:rPr>
              <a:t>Remote Smoke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F4635D-C4D4-D784-363B-4B53CACD1B87}"/>
              </a:ext>
            </a:extLst>
          </p:cNvPr>
          <p:cNvSpPr/>
          <p:nvPr/>
        </p:nvSpPr>
        <p:spPr>
          <a:xfrm>
            <a:off x="4953000" y="2895600"/>
            <a:ext cx="3302000" cy="279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200">
                <a:solidFill>
                  <a:srgbClr val="2F3226"/>
                </a:solidFill>
                <a:latin typeface="Microsoft YaHei" panose="020B0503020204020204" pitchFamily="34" charset="-122"/>
              </a:rPr>
              <a:t>100%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AD4FE1-0900-A8B7-56D9-D92AB4BB28FE}"/>
              </a:ext>
            </a:extLst>
          </p:cNvPr>
          <p:cNvSpPr/>
          <p:nvPr/>
        </p:nvSpPr>
        <p:spPr>
          <a:xfrm>
            <a:off x="9144000" y="2895600"/>
            <a:ext cx="1397000" cy="279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sz="1100" b="1">
                <a:solidFill>
                  <a:srgbClr val="9BAE2A"/>
                </a:solidFill>
                <a:latin typeface="Microsoft YaHei" panose="020B0503020204020204" pitchFamily="34" charset="-122"/>
              </a:rPr>
              <a:t>PASS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CD533C-DB54-D02F-93BA-927C59B98EEB}"/>
              </a:ext>
            </a:extLst>
          </p:cNvPr>
          <p:cNvSpPr/>
          <p:nvPr/>
        </p:nvSpPr>
        <p:spPr>
          <a:xfrm>
            <a:off x="1143000" y="3517900"/>
            <a:ext cx="9906000" cy="609600"/>
          </a:xfrm>
          <a:prstGeom prst="rect">
            <a:avLst/>
          </a:prstGeom>
          <a:solidFill>
            <a:srgbClr val="EFF2EE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39350D-3278-770C-7800-E1DCD627A00A}"/>
              </a:ext>
            </a:extLst>
          </p:cNvPr>
          <p:cNvSpPr/>
          <p:nvPr/>
        </p:nvSpPr>
        <p:spPr>
          <a:xfrm>
            <a:off x="1460500" y="3683000"/>
            <a:ext cx="3302000" cy="279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200" b="1">
                <a:solidFill>
                  <a:srgbClr val="2F3226"/>
                </a:solidFill>
                <a:latin typeface="Microsoft YaHei" panose="020B0503020204020204" pitchFamily="34" charset="-122"/>
              </a:rPr>
              <a:t>安全固定集</a:t>
            </a:r>
            <a:endParaRPr lang="en-US" sz="12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350110-64D5-957A-5096-816FEBD89C3C}"/>
              </a:ext>
            </a:extLst>
          </p:cNvPr>
          <p:cNvSpPr/>
          <p:nvPr/>
        </p:nvSpPr>
        <p:spPr>
          <a:xfrm>
            <a:off x="4953000" y="3683000"/>
            <a:ext cx="3302000" cy="279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200">
                <a:solidFill>
                  <a:srgbClr val="2F3226"/>
                </a:solidFill>
                <a:latin typeface="Microsoft YaHei" panose="020B0503020204020204" pitchFamily="34" charset="-122"/>
              </a:rPr>
              <a:t>无成功攻击</a:t>
            </a:r>
            <a:endParaRPr lang="en-US" sz="1200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CA8C42-B0DC-E8F6-1C20-50ACBC284B2E}"/>
              </a:ext>
            </a:extLst>
          </p:cNvPr>
          <p:cNvSpPr/>
          <p:nvPr/>
        </p:nvSpPr>
        <p:spPr>
          <a:xfrm>
            <a:off x="9144000" y="3683000"/>
            <a:ext cx="1397000" cy="279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sz="1100" b="1">
                <a:solidFill>
                  <a:srgbClr val="9BAE2A"/>
                </a:solidFill>
                <a:latin typeface="Microsoft YaHei" panose="020B0503020204020204" pitchFamily="34" charset="-122"/>
              </a:rPr>
              <a:t>PASS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B4468E-18E3-993C-F524-84654B0917AE}"/>
              </a:ext>
            </a:extLst>
          </p:cNvPr>
          <p:cNvSpPr/>
          <p:nvPr/>
        </p:nvSpPr>
        <p:spPr>
          <a:xfrm>
            <a:off x="1143000" y="4305300"/>
            <a:ext cx="9906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38877D-E605-1CC3-1DB4-2E453022A9FC}"/>
              </a:ext>
            </a:extLst>
          </p:cNvPr>
          <p:cNvSpPr/>
          <p:nvPr/>
        </p:nvSpPr>
        <p:spPr>
          <a:xfrm>
            <a:off x="1460500" y="4470400"/>
            <a:ext cx="3302000" cy="279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200" b="1">
                <a:solidFill>
                  <a:srgbClr val="2F3226"/>
                </a:solidFill>
                <a:latin typeface="Microsoft YaHei" panose="020B0503020204020204" pitchFamily="34" charset="-122"/>
              </a:rPr>
              <a:t>任务遵循</a:t>
            </a:r>
            <a:endParaRPr lang="en-US" sz="12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E091A5-E104-4C99-592D-2AB90356A418}"/>
              </a:ext>
            </a:extLst>
          </p:cNvPr>
          <p:cNvSpPr/>
          <p:nvPr/>
        </p:nvSpPr>
        <p:spPr>
          <a:xfrm>
            <a:off x="4953000" y="4470400"/>
            <a:ext cx="3302000" cy="279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200">
                <a:solidFill>
                  <a:srgbClr val="2F3226"/>
                </a:solidFill>
                <a:latin typeface="Microsoft YaHei" panose="020B0503020204020204" pitchFamily="34" charset="-122"/>
              </a:rPr>
              <a:t>达到业务基线</a:t>
            </a:r>
            <a:endParaRPr lang="en-US" sz="1200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7F67D2-83BD-4615-F83B-3411642FE73B}"/>
              </a:ext>
            </a:extLst>
          </p:cNvPr>
          <p:cNvSpPr/>
          <p:nvPr/>
        </p:nvSpPr>
        <p:spPr>
          <a:xfrm>
            <a:off x="9144000" y="4470400"/>
            <a:ext cx="1397000" cy="279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sz="1100" b="1">
                <a:solidFill>
                  <a:srgbClr val="4AA8E2"/>
                </a:solidFill>
                <a:latin typeface="Microsoft YaHei" panose="020B0503020204020204" pitchFamily="34" charset="-122"/>
              </a:rPr>
              <a:t>REVIEW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6144CF-9FBF-8D7B-A9E1-DF1D5855C465}"/>
              </a:ext>
            </a:extLst>
          </p:cNvPr>
          <p:cNvSpPr/>
          <p:nvPr/>
        </p:nvSpPr>
        <p:spPr>
          <a:xfrm>
            <a:off x="1143000" y="5092700"/>
            <a:ext cx="9906000" cy="609600"/>
          </a:xfrm>
          <a:prstGeom prst="rect">
            <a:avLst/>
          </a:prstGeom>
          <a:solidFill>
            <a:srgbClr val="EFF2EE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7D1FD2-227C-626D-04C6-63FBDB52F476}"/>
              </a:ext>
            </a:extLst>
          </p:cNvPr>
          <p:cNvSpPr/>
          <p:nvPr/>
        </p:nvSpPr>
        <p:spPr>
          <a:xfrm>
            <a:off x="1460500" y="5257800"/>
            <a:ext cx="3302000" cy="279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200" b="1">
                <a:solidFill>
                  <a:srgbClr val="2F3226"/>
                </a:solidFill>
                <a:latin typeface="Microsoft YaHei" panose="020B0503020204020204" pitchFamily="34" charset="-122"/>
              </a:rPr>
              <a:t>P95 </a:t>
            </a:r>
            <a:r>
              <a:rPr lang="zh-CN" altLang="en-US" sz="1200" b="1">
                <a:solidFill>
                  <a:srgbClr val="2F3226"/>
                </a:solidFill>
                <a:latin typeface="Microsoft YaHei" panose="020B0503020204020204" pitchFamily="34" charset="-122"/>
              </a:rPr>
              <a:t>延迟</a:t>
            </a:r>
            <a:endParaRPr lang="en-US" sz="12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B0AC7D-1652-F193-D8F4-4954E6F7FA3A}"/>
              </a:ext>
            </a:extLst>
          </p:cNvPr>
          <p:cNvSpPr/>
          <p:nvPr/>
        </p:nvSpPr>
        <p:spPr>
          <a:xfrm>
            <a:off x="4953000" y="5257800"/>
            <a:ext cx="3302000" cy="279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200">
                <a:solidFill>
                  <a:srgbClr val="2F3226"/>
                </a:solidFill>
                <a:latin typeface="Microsoft YaHei" panose="020B0503020204020204" pitchFamily="34" charset="-122"/>
              </a:rPr>
              <a:t>场景 </a:t>
            </a:r>
            <a:r>
              <a:rPr lang="en-US" sz="1200">
                <a:solidFill>
                  <a:srgbClr val="2F3226"/>
                </a:solidFill>
                <a:latin typeface="Microsoft YaHei" panose="020B0503020204020204" pitchFamily="34" charset="-122"/>
              </a:rPr>
              <a:t>SLO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95456C0-BC82-4196-F7DD-99E4542AD9D2}"/>
              </a:ext>
            </a:extLst>
          </p:cNvPr>
          <p:cNvSpPr/>
          <p:nvPr/>
        </p:nvSpPr>
        <p:spPr>
          <a:xfrm>
            <a:off x="9144000" y="5257800"/>
            <a:ext cx="1397000" cy="279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sz="1100" b="1">
                <a:solidFill>
                  <a:srgbClr val="4AA8E2"/>
                </a:solidFill>
                <a:latin typeface="Microsoft YaHei" panose="020B0503020204020204" pitchFamily="34" charset="-122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9899661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5E75A4-2B95-3EA4-B2DD-A620F9F2B802}"/>
              </a:ext>
            </a:extLst>
          </p:cNvPr>
          <p:cNvSpPr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900" b="1">
                <a:solidFill>
                  <a:srgbClr val="9BAE2A"/>
                </a:solidFill>
                <a:latin typeface="Microsoft YaHei" panose="020B0503020204020204" pitchFamily="34" charset="-122"/>
              </a:rPr>
              <a:t>可观测性</a:t>
            </a:r>
            <a:endParaRPr lang="en-US" sz="900" b="1">
              <a:solidFill>
                <a:srgbClr val="9BAE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2D5EB7-0FBA-EA20-7FB7-E049A7C417C0}"/>
              </a:ext>
            </a:extLst>
          </p:cNvPr>
          <p:cNvSpPr/>
          <p:nvPr/>
        </p:nvSpPr>
        <p:spPr>
          <a:xfrm>
            <a:off x="685800" y="660400"/>
            <a:ext cx="10541000" cy="558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Session、Conversation、Trace </a:t>
            </a:r>
            <a:r>
              <a:rPr lang="zh-CN" alt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是三类对象</a:t>
            </a:r>
            <a:endParaRPr lang="en-US" sz="2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335E13-136D-732E-F30D-3F7B5A62C10F}"/>
              </a:ext>
            </a:extLst>
          </p:cNvPr>
          <p:cNvSpPr/>
          <p:nvPr/>
        </p:nvSpPr>
        <p:spPr>
          <a:xfrm>
            <a:off x="11430000" y="6324600"/>
            <a:ext cx="304800" cy="2032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sz="900">
                <a:solidFill>
                  <a:srgbClr val="595D4F"/>
                </a:solidFill>
                <a:latin typeface="Microsoft YaHei" panose="020B0503020204020204" pitchFamily="34" charset="-122"/>
              </a:rPr>
              <a:t>20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9D72E0-C5EB-92D8-DD1C-E9D9B2FE4EF3}"/>
              </a:ext>
            </a:extLst>
          </p:cNvPr>
          <p:cNvSpPr/>
          <p:nvPr/>
        </p:nvSpPr>
        <p:spPr>
          <a:xfrm>
            <a:off x="698500" y="1841500"/>
            <a:ext cx="33020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FBAE0D-9810-F067-3FE2-35A8ADF93F6C}"/>
              </a:ext>
            </a:extLst>
          </p:cNvPr>
          <p:cNvSpPr/>
          <p:nvPr/>
        </p:nvSpPr>
        <p:spPr>
          <a:xfrm>
            <a:off x="698500" y="1841500"/>
            <a:ext cx="88900" cy="2984500"/>
          </a:xfrm>
          <a:prstGeom prst="rect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44B5A6-FAFE-F176-22E9-D6AC6011AC35}"/>
              </a:ext>
            </a:extLst>
          </p:cNvPr>
          <p:cNvSpPr/>
          <p:nvPr/>
        </p:nvSpPr>
        <p:spPr>
          <a:xfrm>
            <a:off x="977900" y="2044700"/>
            <a:ext cx="2844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Session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96DACE-80B8-9D8D-70A1-0880A8BDF7D9}"/>
              </a:ext>
            </a:extLst>
          </p:cNvPr>
          <p:cNvSpPr/>
          <p:nvPr/>
        </p:nvSpPr>
        <p:spPr>
          <a:xfrm>
            <a:off x="977900" y="2476500"/>
            <a:ext cx="2844800" cy="2222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运行沙箱</a:t>
            </a:r>
          </a:p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状态 </a:t>
            </a:r>
            <a:r>
              <a:rPr lang="en-US" altLang="zh-CN" sz="1300">
                <a:solidFill>
                  <a:srgbClr val="595D4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日志 </a:t>
            </a:r>
            <a:r>
              <a:rPr lang="en-US" altLang="zh-CN" sz="1300">
                <a:solidFill>
                  <a:srgbClr val="595D4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文件</a:t>
            </a:r>
          </a:p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生命周期有限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35EB84E-CDC3-B1B3-F3B5-1E655B6BE7EE}"/>
              </a:ext>
            </a:extLst>
          </p:cNvPr>
          <p:cNvSpPr/>
          <p:nvPr/>
        </p:nvSpPr>
        <p:spPr>
          <a:xfrm>
            <a:off x="4445000" y="1841500"/>
            <a:ext cx="33020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EA3948-986B-691C-373F-ABA011FD2C67}"/>
              </a:ext>
            </a:extLst>
          </p:cNvPr>
          <p:cNvSpPr/>
          <p:nvPr/>
        </p:nvSpPr>
        <p:spPr>
          <a:xfrm>
            <a:off x="4445000" y="1841500"/>
            <a:ext cx="88900" cy="2984500"/>
          </a:xfrm>
          <a:prstGeom prst="rect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B72667-47EC-539A-CFBC-15A81B8E40B5}"/>
              </a:ext>
            </a:extLst>
          </p:cNvPr>
          <p:cNvSpPr/>
          <p:nvPr/>
        </p:nvSpPr>
        <p:spPr>
          <a:xfrm>
            <a:off x="4724400" y="2044700"/>
            <a:ext cx="2844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Conversation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CC71B5-67C6-D411-F59C-E64F411C26C2}"/>
              </a:ext>
            </a:extLst>
          </p:cNvPr>
          <p:cNvSpPr/>
          <p:nvPr/>
        </p:nvSpPr>
        <p:spPr>
          <a:xfrm>
            <a:off x="4724400" y="2476500"/>
            <a:ext cx="2844800" cy="2222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多轮上下文对象</a:t>
            </a:r>
          </a:p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需显式创建或传入 </a:t>
            </a:r>
            <a:r>
              <a:rPr lang="en-US" altLang="zh-CN" sz="1300">
                <a:solidFill>
                  <a:srgbClr val="595D4F"/>
                </a:solidFill>
                <a:latin typeface="Microsoft YaHei" panose="020B0503020204020204" pitchFamily="34" charset="-122"/>
              </a:rPr>
              <a:t>ID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C1BE60B-E4F9-9CC7-2C91-1C36ADE55AAD}"/>
              </a:ext>
            </a:extLst>
          </p:cNvPr>
          <p:cNvSpPr/>
          <p:nvPr/>
        </p:nvSpPr>
        <p:spPr>
          <a:xfrm>
            <a:off x="8191500" y="1841500"/>
            <a:ext cx="33020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AD60A1-3E23-4F14-990E-26F420745E25}"/>
              </a:ext>
            </a:extLst>
          </p:cNvPr>
          <p:cNvSpPr/>
          <p:nvPr/>
        </p:nvSpPr>
        <p:spPr>
          <a:xfrm>
            <a:off x="8191500" y="1841500"/>
            <a:ext cx="88900" cy="2984500"/>
          </a:xfrm>
          <a:prstGeom prst="rect">
            <a:avLst/>
          </a:prstGeom>
          <a:solidFill>
            <a:srgbClr val="A878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F3F101-5FAC-6F52-22B2-B8B3E2CADC0A}"/>
              </a:ext>
            </a:extLst>
          </p:cNvPr>
          <p:cNvSpPr/>
          <p:nvPr/>
        </p:nvSpPr>
        <p:spPr>
          <a:xfrm>
            <a:off x="8470900" y="2044700"/>
            <a:ext cx="2844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Trace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D7604A-9F1B-FC62-66D5-67DA71C8FFA7}"/>
              </a:ext>
            </a:extLst>
          </p:cNvPr>
          <p:cNvSpPr/>
          <p:nvPr/>
        </p:nvSpPr>
        <p:spPr>
          <a:xfrm>
            <a:off x="8470900" y="2476500"/>
            <a:ext cx="2844800" cy="2222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一次响应的调用链</a:t>
            </a:r>
          </a:p>
          <a:p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Agent / Model / Tool Span</a:t>
            </a:r>
          </a:p>
        </p:txBody>
      </p:sp>
    </p:spTree>
    <p:extLst>
      <p:ext uri="{BB962C8B-B14F-4D97-AF65-F5344CB8AC3E}">
        <p14:creationId xmlns:p14="http://schemas.microsoft.com/office/powerpoint/2010/main" val="646185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C016E2-5A54-55F2-C25A-C01B8AED7F91}"/>
              </a:ext>
            </a:extLst>
          </p:cNvPr>
          <p:cNvSpPr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900" b="1">
                <a:solidFill>
                  <a:srgbClr val="9BAE2A"/>
                </a:solidFill>
                <a:latin typeface="Microsoft YaHei" panose="020B0503020204020204" pitchFamily="34" charset="-122"/>
              </a:rPr>
              <a:t>可观测性</a:t>
            </a:r>
            <a:endParaRPr lang="en-US" sz="900" b="1">
              <a:solidFill>
                <a:srgbClr val="9BAE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648937-786F-1272-24C6-24D60AC9C7EB}"/>
              </a:ext>
            </a:extLst>
          </p:cNvPr>
          <p:cNvSpPr/>
          <p:nvPr/>
        </p:nvSpPr>
        <p:spPr>
          <a:xfrm>
            <a:off x="685800" y="660400"/>
            <a:ext cx="10541000" cy="558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Session </a:t>
            </a:r>
            <a:r>
              <a:rPr lang="zh-CN" alt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日志先回答“容器是否健康”</a:t>
            </a:r>
            <a:endParaRPr lang="en-US" sz="2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A1BCD5-4104-3798-C9BB-902A66B8BA15}"/>
              </a:ext>
            </a:extLst>
          </p:cNvPr>
          <p:cNvSpPr/>
          <p:nvPr/>
        </p:nvSpPr>
        <p:spPr>
          <a:xfrm>
            <a:off x="11430000" y="6324600"/>
            <a:ext cx="304800" cy="2032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sz="900">
                <a:solidFill>
                  <a:srgbClr val="595D4F"/>
                </a:solidFill>
                <a:latin typeface="Microsoft YaHei" panose="020B0503020204020204" pitchFamily="34" charset="-122"/>
              </a:rPr>
              <a:t>21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2136C8A-3517-7CC0-2E29-705365BA85B1}"/>
              </a:ext>
            </a:extLst>
          </p:cNvPr>
          <p:cNvSpPr/>
          <p:nvPr/>
        </p:nvSpPr>
        <p:spPr>
          <a:xfrm>
            <a:off x="596900" y="1422400"/>
            <a:ext cx="7823200" cy="464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2DBC2-045A-F777-9FA1-91B79F3600A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778" y="1524000"/>
            <a:ext cx="4247445" cy="44450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B286D42-F7C0-8E37-745E-42AA36FE93CC}"/>
              </a:ext>
            </a:extLst>
          </p:cNvPr>
          <p:cNvSpPr/>
          <p:nvPr/>
        </p:nvSpPr>
        <p:spPr>
          <a:xfrm>
            <a:off x="8382000" y="1841500"/>
            <a:ext cx="29845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62FE57-2F72-87BC-BC6C-27D18E326ED3}"/>
              </a:ext>
            </a:extLst>
          </p:cNvPr>
          <p:cNvSpPr/>
          <p:nvPr/>
        </p:nvSpPr>
        <p:spPr>
          <a:xfrm>
            <a:off x="8382000" y="1841500"/>
            <a:ext cx="88900" cy="1206500"/>
          </a:xfrm>
          <a:prstGeom prst="rect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A1AD61-E837-CEF8-4843-DA686E28A600}"/>
              </a:ext>
            </a:extLst>
          </p:cNvPr>
          <p:cNvSpPr/>
          <p:nvPr/>
        </p:nvSpPr>
        <p:spPr>
          <a:xfrm>
            <a:off x="8661400" y="2044700"/>
            <a:ext cx="25273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先看版本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5051E8-09A4-C36F-2BEE-08A1DAFA4888}"/>
              </a:ext>
            </a:extLst>
          </p:cNvPr>
          <p:cNvSpPr/>
          <p:nvPr/>
        </p:nvSpPr>
        <p:spPr>
          <a:xfrm>
            <a:off x="8661400" y="2476500"/>
            <a:ext cx="2527300" cy="444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Portal 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筛选 </a:t>
            </a:r>
            <a:r>
              <a:rPr lang="en-US" altLang="zh-CN" sz="1300">
                <a:solidFill>
                  <a:srgbClr val="595D4F"/>
                </a:solidFill>
                <a:latin typeface="Microsoft YaHei" panose="020B0503020204020204" pitchFamily="34" charset="-122"/>
              </a:rPr>
              <a:t>= </a:t>
            </a:r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routed version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B3A80-7047-7DE6-F0B7-57DBFB316316}"/>
              </a:ext>
            </a:extLst>
          </p:cNvPr>
          <p:cNvSpPr/>
          <p:nvPr/>
        </p:nvSpPr>
        <p:spPr>
          <a:xfrm>
            <a:off x="8382000" y="3429000"/>
            <a:ext cx="29845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F18312-19B1-57EB-A68B-9CFC50012CB2}"/>
              </a:ext>
            </a:extLst>
          </p:cNvPr>
          <p:cNvSpPr/>
          <p:nvPr/>
        </p:nvSpPr>
        <p:spPr>
          <a:xfrm>
            <a:off x="8382000" y="3429000"/>
            <a:ext cx="88900" cy="1206500"/>
          </a:xfrm>
          <a:prstGeom prst="rect">
            <a:avLst/>
          </a:prstGeom>
          <a:solidFill>
            <a:srgbClr val="4AA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E93B4F-45DB-0141-37A4-4EE40500D623}"/>
              </a:ext>
            </a:extLst>
          </p:cNvPr>
          <p:cNvSpPr/>
          <p:nvPr/>
        </p:nvSpPr>
        <p:spPr>
          <a:xfrm>
            <a:off x="8661400" y="3632200"/>
            <a:ext cx="25273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再看日志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735DD2-BE5B-0D86-043D-99AC4F5CC5C2}"/>
              </a:ext>
            </a:extLst>
          </p:cNvPr>
          <p:cNvSpPr/>
          <p:nvPr/>
        </p:nvSpPr>
        <p:spPr>
          <a:xfrm>
            <a:off x="8661400" y="4064000"/>
            <a:ext cx="2527300" cy="444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启动、身份、依赖、异常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45563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D8843E-348E-AD7F-458D-8D1AF98788D8}"/>
              </a:ext>
            </a:extLst>
          </p:cNvPr>
          <p:cNvSpPr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900" b="1">
                <a:solidFill>
                  <a:srgbClr val="9BAE2A"/>
                </a:solidFill>
                <a:latin typeface="Microsoft YaHei" panose="020B0503020204020204" pitchFamily="34" charset="-122"/>
              </a:rPr>
              <a:t>可观测性</a:t>
            </a:r>
            <a:endParaRPr lang="en-US" sz="900" b="1">
              <a:solidFill>
                <a:srgbClr val="9BAE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F26780-3DA1-88F0-2146-DBCFB4C4C099}"/>
              </a:ext>
            </a:extLst>
          </p:cNvPr>
          <p:cNvSpPr/>
          <p:nvPr/>
        </p:nvSpPr>
        <p:spPr>
          <a:xfrm>
            <a:off x="685800" y="660400"/>
            <a:ext cx="10541000" cy="558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CN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解释一次响应为什么快、慢或失败</a:t>
            </a:r>
            <a:endParaRPr lang="en-US" sz="2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88E4B9-56E6-C571-CDC3-B30998DCF89E}"/>
              </a:ext>
            </a:extLst>
          </p:cNvPr>
          <p:cNvSpPr/>
          <p:nvPr/>
        </p:nvSpPr>
        <p:spPr>
          <a:xfrm>
            <a:off x="11430000" y="6324600"/>
            <a:ext cx="304800" cy="2032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sz="900">
                <a:solidFill>
                  <a:srgbClr val="595D4F"/>
                </a:solidFill>
                <a:latin typeface="Microsoft YaHei" panose="020B0503020204020204" pitchFamily="34" charset="-122"/>
              </a:rPr>
              <a:t>22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D93EC4B-CD72-7FEF-79C3-6866127AB1BE}"/>
              </a:ext>
            </a:extLst>
          </p:cNvPr>
          <p:cNvSpPr/>
          <p:nvPr/>
        </p:nvSpPr>
        <p:spPr>
          <a:xfrm>
            <a:off x="596900" y="1422400"/>
            <a:ext cx="7823200" cy="464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F10EB4-5190-6F83-B7FD-DCB9332E1CF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31" y="1524000"/>
            <a:ext cx="7385538" cy="44450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267D6D5-4CAB-9E87-AA27-2B7C2AA50C80}"/>
              </a:ext>
            </a:extLst>
          </p:cNvPr>
          <p:cNvSpPr/>
          <p:nvPr/>
        </p:nvSpPr>
        <p:spPr>
          <a:xfrm>
            <a:off x="8382000" y="1841500"/>
            <a:ext cx="29845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CD497F-58D8-8AA3-6F1E-BB73237F43ED}"/>
              </a:ext>
            </a:extLst>
          </p:cNvPr>
          <p:cNvSpPr/>
          <p:nvPr/>
        </p:nvSpPr>
        <p:spPr>
          <a:xfrm>
            <a:off x="8382000" y="1841500"/>
            <a:ext cx="88900" cy="1206500"/>
          </a:xfrm>
          <a:prstGeom prst="rect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A97BEC-6091-6B9E-6EFA-481B0E30984B}"/>
              </a:ext>
            </a:extLst>
          </p:cNvPr>
          <p:cNvSpPr/>
          <p:nvPr/>
        </p:nvSpPr>
        <p:spPr>
          <a:xfrm>
            <a:off x="8661400" y="2044700"/>
            <a:ext cx="25273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关联字段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A94993-EBC6-0A95-D795-BC53E17F0F06}"/>
              </a:ext>
            </a:extLst>
          </p:cNvPr>
          <p:cNvSpPr/>
          <p:nvPr/>
        </p:nvSpPr>
        <p:spPr>
          <a:xfrm>
            <a:off x="8661400" y="2476500"/>
            <a:ext cx="2527300" cy="444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Project / Version / Response ID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0771F8C-93AA-F0A4-0B14-FA0E6B236B90}"/>
              </a:ext>
            </a:extLst>
          </p:cNvPr>
          <p:cNvSpPr/>
          <p:nvPr/>
        </p:nvSpPr>
        <p:spPr>
          <a:xfrm>
            <a:off x="8382000" y="3429000"/>
            <a:ext cx="29845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338C4B-F344-7931-F11B-78ADCDA05CB2}"/>
              </a:ext>
            </a:extLst>
          </p:cNvPr>
          <p:cNvSpPr/>
          <p:nvPr/>
        </p:nvSpPr>
        <p:spPr>
          <a:xfrm>
            <a:off x="8382000" y="3429000"/>
            <a:ext cx="88900" cy="1206500"/>
          </a:xfrm>
          <a:prstGeom prst="rect">
            <a:avLst/>
          </a:prstGeom>
          <a:solidFill>
            <a:srgbClr val="595D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1151F8-171D-EA01-851F-4A277B462C87}"/>
              </a:ext>
            </a:extLst>
          </p:cNvPr>
          <p:cNvSpPr/>
          <p:nvPr/>
        </p:nvSpPr>
        <p:spPr>
          <a:xfrm>
            <a:off x="8661400" y="3632200"/>
            <a:ext cx="25273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数据治理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70DBAB-ACA2-4471-6CF6-5D2ED73FA684}"/>
              </a:ext>
            </a:extLst>
          </p:cNvPr>
          <p:cNvSpPr/>
          <p:nvPr/>
        </p:nvSpPr>
        <p:spPr>
          <a:xfrm>
            <a:off x="8661400" y="4064000"/>
            <a:ext cx="2527300" cy="444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脱敏、访问控制、保留期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28318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E053C7-5F82-95EA-2CD4-5556ACAD1BF2}"/>
              </a:ext>
            </a:extLst>
          </p:cNvPr>
          <p:cNvSpPr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900" b="1">
                <a:solidFill>
                  <a:srgbClr val="9BAE2A"/>
                </a:solidFill>
                <a:latin typeface="Microsoft YaHei" panose="020B0503020204020204" pitchFamily="34" charset="-122"/>
              </a:rPr>
              <a:t>可观测性</a:t>
            </a:r>
            <a:endParaRPr lang="en-US" sz="900" b="1">
              <a:solidFill>
                <a:srgbClr val="9BAE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09E412-D0D0-F01B-F4D9-D3F477D72A33}"/>
              </a:ext>
            </a:extLst>
          </p:cNvPr>
          <p:cNvSpPr/>
          <p:nvPr/>
        </p:nvSpPr>
        <p:spPr>
          <a:xfrm>
            <a:off x="685800" y="660400"/>
            <a:ext cx="10541000" cy="558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CN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Monitor </a:t>
            </a:r>
            <a:r>
              <a:rPr lang="zh-CN" alt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从单次诊断转向趋势管理</a:t>
            </a:r>
            <a:endParaRPr lang="en-US" sz="2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AC7762-9311-4E3B-B0D4-E7554ABED007}"/>
              </a:ext>
            </a:extLst>
          </p:cNvPr>
          <p:cNvSpPr/>
          <p:nvPr/>
        </p:nvSpPr>
        <p:spPr>
          <a:xfrm>
            <a:off x="11430000" y="6324600"/>
            <a:ext cx="304800" cy="2032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sz="900">
                <a:solidFill>
                  <a:srgbClr val="595D4F"/>
                </a:solidFill>
                <a:latin typeface="Microsoft YaHei" panose="020B0503020204020204" pitchFamily="34" charset="-122"/>
              </a:rPr>
              <a:t>23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A949F2F-33B1-D523-E4AB-D2663478EB3C}"/>
              </a:ext>
            </a:extLst>
          </p:cNvPr>
          <p:cNvSpPr/>
          <p:nvPr/>
        </p:nvSpPr>
        <p:spPr>
          <a:xfrm>
            <a:off x="596900" y="1422400"/>
            <a:ext cx="7823200" cy="464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BCD656-FA9A-98E9-88F5-AACF4D77A40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887" y="1524000"/>
            <a:ext cx="6949225" cy="44450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950B823-2640-1CD6-7C4C-01AC8506566D}"/>
              </a:ext>
            </a:extLst>
          </p:cNvPr>
          <p:cNvSpPr/>
          <p:nvPr/>
        </p:nvSpPr>
        <p:spPr>
          <a:xfrm>
            <a:off x="8382000" y="1841500"/>
            <a:ext cx="29845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E99A57-C1B8-EA2B-3D27-4C5F4AF056BE}"/>
              </a:ext>
            </a:extLst>
          </p:cNvPr>
          <p:cNvSpPr/>
          <p:nvPr/>
        </p:nvSpPr>
        <p:spPr>
          <a:xfrm>
            <a:off x="8382000" y="1841500"/>
            <a:ext cx="88900" cy="1206500"/>
          </a:xfrm>
          <a:prstGeom prst="rect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57518F-3849-C045-995A-D4B2DD044A6B}"/>
              </a:ext>
            </a:extLst>
          </p:cNvPr>
          <p:cNvSpPr/>
          <p:nvPr/>
        </p:nvSpPr>
        <p:spPr>
          <a:xfrm>
            <a:off x="8661400" y="2044700"/>
            <a:ext cx="25273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当前证据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A28CF4-6DCA-BD03-18BA-092DE13398AE}"/>
              </a:ext>
            </a:extLst>
          </p:cNvPr>
          <p:cNvSpPr/>
          <p:nvPr/>
        </p:nvSpPr>
        <p:spPr>
          <a:xfrm>
            <a:off x="8661400" y="2476500"/>
            <a:ext cx="2527300" cy="444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$0.03 / 10.5K tokens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312F7D4-BD76-D0D6-210C-32BE1EE43E84}"/>
              </a:ext>
            </a:extLst>
          </p:cNvPr>
          <p:cNvSpPr/>
          <p:nvPr/>
        </p:nvSpPr>
        <p:spPr>
          <a:xfrm>
            <a:off x="8382000" y="3429000"/>
            <a:ext cx="29845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9804F5-5F55-3762-2E17-C3E2A2C3BE89}"/>
              </a:ext>
            </a:extLst>
          </p:cNvPr>
          <p:cNvSpPr/>
          <p:nvPr/>
        </p:nvSpPr>
        <p:spPr>
          <a:xfrm>
            <a:off x="8382000" y="3429000"/>
            <a:ext cx="88900" cy="1206500"/>
          </a:xfrm>
          <a:prstGeom prst="rect">
            <a:avLst/>
          </a:prstGeom>
          <a:solidFill>
            <a:srgbClr val="4AA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87837D-AFFB-D7A9-7101-8800CB5C7B0B}"/>
              </a:ext>
            </a:extLst>
          </p:cNvPr>
          <p:cNvSpPr/>
          <p:nvPr/>
        </p:nvSpPr>
        <p:spPr>
          <a:xfrm>
            <a:off x="8661400" y="3632200"/>
            <a:ext cx="25273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使用边界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076EF1-5A4F-8F57-7AA7-5EA4E9F7A58B}"/>
              </a:ext>
            </a:extLst>
          </p:cNvPr>
          <p:cNvSpPr/>
          <p:nvPr/>
        </p:nvSpPr>
        <p:spPr>
          <a:xfrm>
            <a:off x="8661400" y="4064000"/>
            <a:ext cx="2527300" cy="444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Preview；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先验证再承诺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39127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27DCAB-BC5E-B59F-94E7-F9F7F94D02C9}"/>
              </a:ext>
            </a:extLst>
          </p:cNvPr>
          <p:cNvSpPr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900" b="1">
                <a:solidFill>
                  <a:srgbClr val="9BAE2A"/>
                </a:solidFill>
                <a:latin typeface="Microsoft YaHei" panose="020B0503020204020204" pitchFamily="34" charset="-122"/>
              </a:rPr>
              <a:t>安全</a:t>
            </a:r>
            <a:endParaRPr lang="en-US" sz="900" b="1">
              <a:solidFill>
                <a:srgbClr val="9BAE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138092-3162-7829-476B-BEFE542AE257}"/>
              </a:ext>
            </a:extLst>
          </p:cNvPr>
          <p:cNvSpPr/>
          <p:nvPr/>
        </p:nvSpPr>
        <p:spPr>
          <a:xfrm>
            <a:off x="685800" y="660400"/>
            <a:ext cx="10541000" cy="558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CN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Guardrail </a:t>
            </a:r>
            <a:r>
              <a:rPr lang="zh-CN" alt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是分层控制，不是一个开关</a:t>
            </a:r>
            <a:endParaRPr lang="en-US" sz="2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8F31D4-929A-9E6A-646F-3F96E512BA4A}"/>
              </a:ext>
            </a:extLst>
          </p:cNvPr>
          <p:cNvSpPr/>
          <p:nvPr/>
        </p:nvSpPr>
        <p:spPr>
          <a:xfrm>
            <a:off x="11430000" y="6324600"/>
            <a:ext cx="304800" cy="2032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sz="900">
                <a:solidFill>
                  <a:srgbClr val="595D4F"/>
                </a:solidFill>
                <a:latin typeface="Microsoft YaHei" panose="020B0503020204020204" pitchFamily="34" charset="-122"/>
              </a:rPr>
              <a:t>24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BB4F184-655B-A1E7-B32B-9064FE3B802B}"/>
              </a:ext>
            </a:extLst>
          </p:cNvPr>
          <p:cNvSpPr/>
          <p:nvPr/>
        </p:nvSpPr>
        <p:spPr>
          <a:xfrm>
            <a:off x="571500" y="1524000"/>
            <a:ext cx="4318000" cy="10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BEE60E-D8CC-1F9F-3C43-6B2655F8A465}"/>
              </a:ext>
            </a:extLst>
          </p:cNvPr>
          <p:cNvSpPr/>
          <p:nvPr/>
        </p:nvSpPr>
        <p:spPr>
          <a:xfrm>
            <a:off x="571500" y="1524000"/>
            <a:ext cx="88900" cy="1016000"/>
          </a:xfrm>
          <a:prstGeom prst="rect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E1DE2D-8A17-EDAE-142C-1D7C4CF9BBA7}"/>
              </a:ext>
            </a:extLst>
          </p:cNvPr>
          <p:cNvSpPr/>
          <p:nvPr/>
        </p:nvSpPr>
        <p:spPr>
          <a:xfrm>
            <a:off x="850900" y="1727200"/>
            <a:ext cx="3860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CN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1  </a:t>
            </a:r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模型 </a:t>
            </a:r>
            <a:r>
              <a:rPr lang="en-US" altLang="zh-CN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/ </a:t>
            </a:r>
            <a:r>
              <a:rPr 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Agent Guardrail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A45A89-DC58-BFC7-6D0A-CA299C770CFD}"/>
              </a:ext>
            </a:extLst>
          </p:cNvPr>
          <p:cNvSpPr/>
          <p:nvPr/>
        </p:nvSpPr>
        <p:spPr>
          <a:xfrm>
            <a:off x="850900" y="2159000"/>
            <a:ext cx="3860800" cy="254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内容风险、</a:t>
            </a:r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Prompt Shield、PII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4232941-8F77-D92E-1BAF-055FA4386665}"/>
              </a:ext>
            </a:extLst>
          </p:cNvPr>
          <p:cNvSpPr/>
          <p:nvPr/>
        </p:nvSpPr>
        <p:spPr>
          <a:xfrm>
            <a:off x="571500" y="2667000"/>
            <a:ext cx="4318000" cy="10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682D5A-C13D-7C6D-F974-8AEC29E9CDFE}"/>
              </a:ext>
            </a:extLst>
          </p:cNvPr>
          <p:cNvSpPr/>
          <p:nvPr/>
        </p:nvSpPr>
        <p:spPr>
          <a:xfrm>
            <a:off x="571500" y="2667000"/>
            <a:ext cx="88900" cy="1016000"/>
          </a:xfrm>
          <a:prstGeom prst="rect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33300F-5C32-67E2-7518-5373C52248BC}"/>
              </a:ext>
            </a:extLst>
          </p:cNvPr>
          <p:cNvSpPr/>
          <p:nvPr/>
        </p:nvSpPr>
        <p:spPr>
          <a:xfrm>
            <a:off x="850900" y="2870200"/>
            <a:ext cx="3860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zh-CN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2  </a:t>
            </a:r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应用策略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DBC02B-E39D-D87C-057F-1BF959495BC8}"/>
              </a:ext>
            </a:extLst>
          </p:cNvPr>
          <p:cNvSpPr/>
          <p:nvPr/>
        </p:nvSpPr>
        <p:spPr>
          <a:xfrm>
            <a:off x="850900" y="3302000"/>
            <a:ext cx="3860800" cy="254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Schema、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输入输出校验、限流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CC87376-732B-6CB0-932C-045F33EFC03B}"/>
              </a:ext>
            </a:extLst>
          </p:cNvPr>
          <p:cNvSpPr/>
          <p:nvPr/>
        </p:nvSpPr>
        <p:spPr>
          <a:xfrm>
            <a:off x="571500" y="3810000"/>
            <a:ext cx="4318000" cy="10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ACA41B-B4D3-B2EA-FC51-F23FBD5440B3}"/>
              </a:ext>
            </a:extLst>
          </p:cNvPr>
          <p:cNvSpPr/>
          <p:nvPr/>
        </p:nvSpPr>
        <p:spPr>
          <a:xfrm>
            <a:off x="571500" y="3810000"/>
            <a:ext cx="88900" cy="1016000"/>
          </a:xfrm>
          <a:prstGeom prst="rect">
            <a:avLst/>
          </a:prstGeom>
          <a:solidFill>
            <a:srgbClr val="A878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473106-87FD-22F8-5A51-BA4496F91FF7}"/>
              </a:ext>
            </a:extLst>
          </p:cNvPr>
          <p:cNvSpPr/>
          <p:nvPr/>
        </p:nvSpPr>
        <p:spPr>
          <a:xfrm>
            <a:off x="850900" y="4013200"/>
            <a:ext cx="3860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3  Tool </a:t>
            </a:r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授权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B5CAD3-F101-8790-3A72-0673CB1B166F}"/>
              </a:ext>
            </a:extLst>
          </p:cNvPr>
          <p:cNvSpPr/>
          <p:nvPr/>
        </p:nvSpPr>
        <p:spPr>
          <a:xfrm>
            <a:off x="850900" y="4445000"/>
            <a:ext cx="3860800" cy="254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Entra / RBAC / 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审批 </a:t>
            </a:r>
            <a:r>
              <a:rPr lang="en-US" altLang="zh-CN" sz="1300">
                <a:solidFill>
                  <a:srgbClr val="595D4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幂等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34E6E0F-AB00-9054-A1C4-1C411F6BEDDE}"/>
              </a:ext>
            </a:extLst>
          </p:cNvPr>
          <p:cNvSpPr/>
          <p:nvPr/>
        </p:nvSpPr>
        <p:spPr>
          <a:xfrm>
            <a:off x="571500" y="4953000"/>
            <a:ext cx="4318000" cy="10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1B2CC6-4325-2964-7B7E-D9497BC830C6}"/>
              </a:ext>
            </a:extLst>
          </p:cNvPr>
          <p:cNvSpPr/>
          <p:nvPr/>
        </p:nvSpPr>
        <p:spPr>
          <a:xfrm>
            <a:off x="571500" y="4953000"/>
            <a:ext cx="88900" cy="1016000"/>
          </a:xfrm>
          <a:prstGeom prst="rect">
            <a:avLst/>
          </a:prstGeom>
          <a:solidFill>
            <a:srgbClr val="4AA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2C83C9-DD19-7F5C-CC76-9EEA07C873DE}"/>
              </a:ext>
            </a:extLst>
          </p:cNvPr>
          <p:cNvSpPr/>
          <p:nvPr/>
        </p:nvSpPr>
        <p:spPr>
          <a:xfrm>
            <a:off x="850900" y="5156200"/>
            <a:ext cx="3860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4  Evaluation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EC1286-AA5A-C226-24DA-4C8EFB78F482}"/>
              </a:ext>
            </a:extLst>
          </p:cNvPr>
          <p:cNvSpPr/>
          <p:nvPr/>
        </p:nvSpPr>
        <p:spPr>
          <a:xfrm>
            <a:off x="850900" y="5588000"/>
            <a:ext cx="3860800" cy="254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质量、安全与版本回归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A54B05-5CE8-2006-A19F-29B6E4C65976}"/>
              </a:ext>
            </a:extLst>
          </p:cNvPr>
          <p:cNvSpPr/>
          <p:nvPr/>
        </p:nvSpPr>
        <p:spPr>
          <a:xfrm>
            <a:off x="5969000" y="1841500"/>
            <a:ext cx="4699000" cy="3302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600" b="1">
                <a:solidFill>
                  <a:srgbClr val="2F3226"/>
                </a:solidFill>
                <a:latin typeface="Microsoft YaHei" panose="020B0503020204020204" pitchFamily="34" charset="-122"/>
              </a:rPr>
              <a:t>原生输入阶段阻断</a:t>
            </a:r>
            <a:endParaRPr lang="en-US" sz="16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7646927-C38A-DBBF-1289-9C91DCD01228}"/>
              </a:ext>
            </a:extLst>
          </p:cNvPr>
          <p:cNvSpPr/>
          <p:nvPr/>
        </p:nvSpPr>
        <p:spPr>
          <a:xfrm>
            <a:off x="5359400" y="2311400"/>
            <a:ext cx="5981700" cy="223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B6F193B-8530-B608-9D4A-21D662DAA76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2688779"/>
            <a:ext cx="5778500" cy="1480442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5A11631-ED9F-256C-B8C4-A9F4F0F32865}"/>
              </a:ext>
            </a:extLst>
          </p:cNvPr>
          <p:cNvSpPr/>
          <p:nvPr/>
        </p:nvSpPr>
        <p:spPr>
          <a:xfrm>
            <a:off x="5969000" y="4762500"/>
            <a:ext cx="4699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0C1094C-7E5C-6CC9-0496-3FCAF22A6726}"/>
              </a:ext>
            </a:extLst>
          </p:cNvPr>
          <p:cNvSpPr/>
          <p:nvPr/>
        </p:nvSpPr>
        <p:spPr>
          <a:xfrm>
            <a:off x="5969000" y="4762500"/>
            <a:ext cx="88900" cy="1041400"/>
          </a:xfrm>
          <a:prstGeom prst="rect">
            <a:avLst/>
          </a:prstGeom>
          <a:solidFill>
            <a:srgbClr val="595D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4D200AB-11B9-03CF-7FD0-CF2AE221E64F}"/>
              </a:ext>
            </a:extLst>
          </p:cNvPr>
          <p:cNvSpPr/>
          <p:nvPr/>
        </p:nvSpPr>
        <p:spPr>
          <a:xfrm>
            <a:off x="6248400" y="4965700"/>
            <a:ext cx="4241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SDK </a:t>
            </a:r>
            <a:r>
              <a:rPr lang="zh-CN" alt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证据</a:t>
            </a:r>
            <a:endParaRPr lang="en-US" sz="1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2C80FA6-3200-88B7-446D-36844A22AEA7}"/>
              </a:ext>
            </a:extLst>
          </p:cNvPr>
          <p:cNvSpPr/>
          <p:nvPr/>
        </p:nvSpPr>
        <p:spPr>
          <a:xfrm>
            <a:off x="6248400" y="5397500"/>
            <a:ext cx="4241800" cy="279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HTTP 400 · content_filter · input stage</a:t>
            </a:r>
          </a:p>
        </p:txBody>
      </p:sp>
    </p:spTree>
    <p:extLst>
      <p:ext uri="{BB962C8B-B14F-4D97-AF65-F5344CB8AC3E}">
        <p14:creationId xmlns:p14="http://schemas.microsoft.com/office/powerpoint/2010/main" val="14614860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457063-0CFC-23CD-8DA1-323577DF4472}"/>
              </a:ext>
            </a:extLst>
          </p:cNvPr>
          <p:cNvSpPr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900" b="1">
                <a:solidFill>
                  <a:srgbClr val="9BAE2A"/>
                </a:solidFill>
                <a:latin typeface="Microsoft YaHei" panose="020B0503020204020204" pitchFamily="34" charset="-122"/>
              </a:rPr>
              <a:t>性能与运营</a:t>
            </a:r>
            <a:endParaRPr lang="en-US" sz="900" b="1">
              <a:solidFill>
                <a:srgbClr val="9BAE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B202F7-D210-24AE-52E2-F0003D7356D3}"/>
              </a:ext>
            </a:extLst>
          </p:cNvPr>
          <p:cNvSpPr/>
          <p:nvPr/>
        </p:nvSpPr>
        <p:spPr>
          <a:xfrm>
            <a:off x="685800" y="660400"/>
            <a:ext cx="10541000" cy="558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性能基线必须与质量、安全一起看</a:t>
            </a:r>
            <a:endParaRPr lang="en-US" sz="2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BE182D-13E9-EE18-956A-CF211640CC7A}"/>
              </a:ext>
            </a:extLst>
          </p:cNvPr>
          <p:cNvSpPr/>
          <p:nvPr/>
        </p:nvSpPr>
        <p:spPr>
          <a:xfrm>
            <a:off x="11430000" y="6324600"/>
            <a:ext cx="304800" cy="2032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sz="900">
                <a:solidFill>
                  <a:srgbClr val="595D4F"/>
                </a:solidFill>
                <a:latin typeface="Microsoft YaHei" panose="020B0503020204020204" pitchFamily="34" charset="-122"/>
              </a:rPr>
              <a:t>25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2B0A5DC-B1F7-C43D-766E-EF1E5B45F44E}"/>
              </a:ext>
            </a:extLst>
          </p:cNvPr>
          <p:cNvSpPr/>
          <p:nvPr/>
        </p:nvSpPr>
        <p:spPr>
          <a:xfrm>
            <a:off x="469900" y="1422400"/>
            <a:ext cx="7124700" cy="464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0061B7-10EC-EBB3-34BA-D6D6CED48D4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2391040"/>
            <a:ext cx="6921500" cy="2710921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3697D28-8052-D795-708C-5F70170B417F}"/>
              </a:ext>
            </a:extLst>
          </p:cNvPr>
          <p:cNvSpPr/>
          <p:nvPr/>
        </p:nvSpPr>
        <p:spPr>
          <a:xfrm>
            <a:off x="7747000" y="1651000"/>
            <a:ext cx="3556000" cy="952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758E65-1D40-D628-CCC2-4C4FDFB1010D}"/>
              </a:ext>
            </a:extLst>
          </p:cNvPr>
          <p:cNvSpPr/>
          <p:nvPr/>
        </p:nvSpPr>
        <p:spPr>
          <a:xfrm>
            <a:off x="7747000" y="1651000"/>
            <a:ext cx="88900" cy="952500"/>
          </a:xfrm>
          <a:prstGeom prst="rect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34B8F6-993E-885C-C777-AF19042E50C0}"/>
              </a:ext>
            </a:extLst>
          </p:cNvPr>
          <p:cNvSpPr/>
          <p:nvPr/>
        </p:nvSpPr>
        <p:spPr>
          <a:xfrm>
            <a:off x="8026400" y="1854200"/>
            <a:ext cx="3098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15 / 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21323D-809D-DF34-1624-4DE00FBF06A7}"/>
              </a:ext>
            </a:extLst>
          </p:cNvPr>
          <p:cNvSpPr/>
          <p:nvPr/>
        </p:nvSpPr>
        <p:spPr>
          <a:xfrm>
            <a:off x="8026400" y="2286000"/>
            <a:ext cx="3098800" cy="190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请求数 </a:t>
            </a:r>
            <a:r>
              <a:rPr lang="en-US" altLang="zh-CN" sz="1300">
                <a:solidFill>
                  <a:srgbClr val="595D4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失败数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E51987A-7C44-2299-0E87-0ABE64542471}"/>
              </a:ext>
            </a:extLst>
          </p:cNvPr>
          <p:cNvSpPr/>
          <p:nvPr/>
        </p:nvSpPr>
        <p:spPr>
          <a:xfrm>
            <a:off x="7747000" y="2857500"/>
            <a:ext cx="3556000" cy="952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8EF1F2-65B1-8743-2CA8-3843E6815C23}"/>
              </a:ext>
            </a:extLst>
          </p:cNvPr>
          <p:cNvSpPr/>
          <p:nvPr/>
        </p:nvSpPr>
        <p:spPr>
          <a:xfrm>
            <a:off x="7747000" y="2857500"/>
            <a:ext cx="88900" cy="952500"/>
          </a:xfrm>
          <a:prstGeom prst="rect">
            <a:avLst/>
          </a:prstGeom>
          <a:solidFill>
            <a:srgbClr val="4AA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EFC5F4-B0C8-14A3-012C-374F48DFE4F8}"/>
              </a:ext>
            </a:extLst>
          </p:cNvPr>
          <p:cNvSpPr/>
          <p:nvPr/>
        </p:nvSpPr>
        <p:spPr>
          <a:xfrm>
            <a:off x="8026400" y="3060700"/>
            <a:ext cx="3098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14 s / 25 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75AD47-0152-A905-0ED2-FAC7B250197B}"/>
              </a:ext>
            </a:extLst>
          </p:cNvPr>
          <p:cNvSpPr/>
          <p:nvPr/>
        </p:nvSpPr>
        <p:spPr>
          <a:xfrm>
            <a:off x="8026400" y="3492500"/>
            <a:ext cx="3098800" cy="190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P50 / P95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72DFE22-A02C-FB86-2F49-F5A189A497B9}"/>
              </a:ext>
            </a:extLst>
          </p:cNvPr>
          <p:cNvSpPr/>
          <p:nvPr/>
        </p:nvSpPr>
        <p:spPr>
          <a:xfrm>
            <a:off x="7747000" y="4064000"/>
            <a:ext cx="3556000" cy="952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C68E7C-0E32-BC54-FA56-949FE9B40642}"/>
              </a:ext>
            </a:extLst>
          </p:cNvPr>
          <p:cNvSpPr/>
          <p:nvPr/>
        </p:nvSpPr>
        <p:spPr>
          <a:xfrm>
            <a:off x="7747000" y="4064000"/>
            <a:ext cx="88900" cy="952500"/>
          </a:xfrm>
          <a:prstGeom prst="rect">
            <a:avLst/>
          </a:prstGeom>
          <a:solidFill>
            <a:srgbClr val="A878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5A477D-8BC0-15E8-A506-DE591363CE5F}"/>
              </a:ext>
            </a:extLst>
          </p:cNvPr>
          <p:cNvSpPr/>
          <p:nvPr/>
        </p:nvSpPr>
        <p:spPr>
          <a:xfrm>
            <a:off x="8026400" y="4267200"/>
            <a:ext cx="3098800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500" b="1">
                <a:solidFill>
                  <a:srgbClr val="2F3226"/>
                </a:solidFill>
                <a:latin typeface="Microsoft YaHei" panose="020B0503020204020204" pitchFamily="34" charset="-122"/>
              </a:rPr>
              <a:t>0.17 RPS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68EF96-046A-F5E3-20AC-588B069A4FB5}"/>
              </a:ext>
            </a:extLst>
          </p:cNvPr>
          <p:cNvSpPr/>
          <p:nvPr/>
        </p:nvSpPr>
        <p:spPr>
          <a:xfrm>
            <a:off x="8026400" y="4699000"/>
            <a:ext cx="3098800" cy="190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300">
                <a:solidFill>
                  <a:srgbClr val="595D4F"/>
                </a:solidFill>
                <a:latin typeface="Microsoft YaHei" panose="020B0503020204020204" pitchFamily="34" charset="-122"/>
              </a:rPr>
              <a:t>当前吞吐观察值</a:t>
            </a:r>
            <a:endParaRPr lang="en-US" sz="1300">
              <a:solidFill>
                <a:srgbClr val="595D4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B8DC11-15A2-76F5-D218-24033F074A7A}"/>
              </a:ext>
            </a:extLst>
          </p:cNvPr>
          <p:cNvSpPr/>
          <p:nvPr/>
        </p:nvSpPr>
        <p:spPr>
          <a:xfrm>
            <a:off x="8128000" y="5397500"/>
            <a:ext cx="2794000" cy="3302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500" b="1">
                <a:solidFill>
                  <a:srgbClr val="595DD9"/>
                </a:solidFill>
                <a:latin typeface="Microsoft YaHei" panose="020B0503020204020204" pitchFamily="34" charset="-122"/>
              </a:rPr>
              <a:t>小样本 ≠ 容量证明</a:t>
            </a:r>
            <a:endParaRPr lang="en-US" sz="1500" b="1">
              <a:solidFill>
                <a:srgbClr val="595DD9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67055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831DA6-B511-5A47-EEEA-BD52C0007B28}"/>
              </a:ext>
            </a:extLst>
          </p:cNvPr>
          <p:cNvSpPr/>
          <p:nvPr/>
        </p:nvSpPr>
        <p:spPr>
          <a:xfrm>
            <a:off x="685800" y="355600"/>
            <a:ext cx="3810000" cy="228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900" b="1">
                <a:solidFill>
                  <a:srgbClr val="9BAE2A"/>
                </a:solidFill>
                <a:latin typeface="Microsoft YaHei" panose="020B0503020204020204" pitchFamily="34" charset="-122"/>
              </a:rPr>
              <a:t>总结与问答</a:t>
            </a:r>
            <a:endParaRPr lang="en-US" sz="900" b="1">
              <a:solidFill>
                <a:srgbClr val="9BAE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1DC9C5-6D3C-D7F9-1A79-43AFB3C38067}"/>
              </a:ext>
            </a:extLst>
          </p:cNvPr>
          <p:cNvSpPr/>
          <p:nvPr/>
        </p:nvSpPr>
        <p:spPr>
          <a:xfrm>
            <a:off x="685800" y="660400"/>
            <a:ext cx="10541000" cy="558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2500" b="1">
                <a:solidFill>
                  <a:srgbClr val="2F3226"/>
                </a:solidFill>
                <a:latin typeface="Microsoft YaHei" panose="020B0503020204020204" pitchFamily="34" charset="-122"/>
              </a:rPr>
              <a:t>把一次部署变成持续运行闭环</a:t>
            </a:r>
            <a:endParaRPr lang="en-US" sz="2500" b="1">
              <a:solidFill>
                <a:srgbClr val="2F32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2B280F-1923-A660-3BB2-C6D0DA238FA2}"/>
              </a:ext>
            </a:extLst>
          </p:cNvPr>
          <p:cNvSpPr/>
          <p:nvPr/>
        </p:nvSpPr>
        <p:spPr>
          <a:xfrm>
            <a:off x="11430000" y="6324600"/>
            <a:ext cx="304800" cy="2032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sz="900">
                <a:solidFill>
                  <a:srgbClr val="595D4F"/>
                </a:solidFill>
                <a:latin typeface="Microsoft YaHei" panose="020B0503020204020204" pitchFamily="34" charset="-122"/>
              </a:rPr>
              <a:t>26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8DE9C00A-6D2A-B890-014A-F847F291C028}"/>
              </a:ext>
            </a:extLst>
          </p:cNvPr>
          <p:cNvSpPr/>
          <p:nvPr/>
        </p:nvSpPr>
        <p:spPr>
          <a:xfrm>
            <a:off x="571500" y="2159000"/>
            <a:ext cx="2108200" cy="889000"/>
          </a:xfrm>
          <a:prstGeom prst="chevron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27991C-171D-ADF8-E971-4CC109518ED1}"/>
              </a:ext>
            </a:extLst>
          </p:cNvPr>
          <p:cNvSpPr/>
          <p:nvPr/>
        </p:nvSpPr>
        <p:spPr>
          <a:xfrm>
            <a:off x="993140" y="2438400"/>
            <a:ext cx="1307084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Observe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940DC986-EF94-6183-756F-261D2EAC5F83}"/>
              </a:ext>
            </a:extLst>
          </p:cNvPr>
          <p:cNvSpPr/>
          <p:nvPr/>
        </p:nvSpPr>
        <p:spPr>
          <a:xfrm>
            <a:off x="2806700" y="2159000"/>
            <a:ext cx="2108200" cy="889000"/>
          </a:xfrm>
          <a:prstGeom prst="chevron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4F380C-BF3B-5864-E4CB-7D68081E032C}"/>
              </a:ext>
            </a:extLst>
          </p:cNvPr>
          <p:cNvSpPr/>
          <p:nvPr/>
        </p:nvSpPr>
        <p:spPr>
          <a:xfrm>
            <a:off x="3228340" y="2438400"/>
            <a:ext cx="1307084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Evaluate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A71B9BF0-10E9-6DEC-C0E1-06F6B80FD4F8}"/>
              </a:ext>
            </a:extLst>
          </p:cNvPr>
          <p:cNvSpPr/>
          <p:nvPr/>
        </p:nvSpPr>
        <p:spPr>
          <a:xfrm>
            <a:off x="5041900" y="2159000"/>
            <a:ext cx="2108200" cy="889000"/>
          </a:xfrm>
          <a:prstGeom prst="chevron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02C100-DC5F-15CA-D6E9-DCDC61DA014C}"/>
              </a:ext>
            </a:extLst>
          </p:cNvPr>
          <p:cNvSpPr/>
          <p:nvPr/>
        </p:nvSpPr>
        <p:spPr>
          <a:xfrm>
            <a:off x="5463540" y="2438400"/>
            <a:ext cx="1307084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Alert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4ED74F22-0C7A-CD79-5B58-72D534E0C382}"/>
              </a:ext>
            </a:extLst>
          </p:cNvPr>
          <p:cNvSpPr/>
          <p:nvPr/>
        </p:nvSpPr>
        <p:spPr>
          <a:xfrm>
            <a:off x="7277100" y="2159000"/>
            <a:ext cx="2108200" cy="889000"/>
          </a:xfrm>
          <a:prstGeom prst="chevron">
            <a:avLst/>
          </a:prstGeom>
          <a:solidFill>
            <a:srgbClr val="434D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80E400-0E8E-C9F1-F421-E375130F9584}"/>
              </a:ext>
            </a:extLst>
          </p:cNvPr>
          <p:cNvSpPr/>
          <p:nvPr/>
        </p:nvSpPr>
        <p:spPr>
          <a:xfrm>
            <a:off x="7698740" y="2438400"/>
            <a:ext cx="1307084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Decide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BB61BF98-00A3-4206-52D4-EB2FA8C9BD42}"/>
              </a:ext>
            </a:extLst>
          </p:cNvPr>
          <p:cNvSpPr/>
          <p:nvPr/>
        </p:nvSpPr>
        <p:spPr>
          <a:xfrm>
            <a:off x="9512300" y="2159000"/>
            <a:ext cx="2108200" cy="889000"/>
          </a:xfrm>
          <a:prstGeom prst="chevron">
            <a:avLst/>
          </a:prstGeom>
          <a:solidFill>
            <a:srgbClr val="9BAE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C9AEC2-CBED-A03F-A7A9-40A6786C1AEE}"/>
              </a:ext>
            </a:extLst>
          </p:cNvPr>
          <p:cNvSpPr/>
          <p:nvPr/>
        </p:nvSpPr>
        <p:spPr>
          <a:xfrm>
            <a:off x="9933940" y="2438400"/>
            <a:ext cx="1307084" cy="317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Microsoft YaHei" panose="020B0503020204020204" pitchFamily="34" charset="-122"/>
              </a:rPr>
              <a:t>Deploy / Rollback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369E8C-C332-A69B-00BC-3D02D4B7469E}"/>
              </a:ext>
            </a:extLst>
          </p:cNvPr>
          <p:cNvSpPr/>
          <p:nvPr/>
        </p:nvSpPr>
        <p:spPr>
          <a:xfrm>
            <a:off x="1333500" y="4127500"/>
            <a:ext cx="2667000" cy="355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b="1">
                <a:solidFill>
                  <a:srgbClr val="434D24"/>
                </a:solidFill>
                <a:latin typeface="Microsoft YaHei" panose="020B0503020204020204" pitchFamily="34" charset="-122"/>
              </a:rPr>
              <a:t>可部署</a:t>
            </a:r>
            <a:endParaRPr lang="en-US" b="1">
              <a:solidFill>
                <a:srgbClr val="434D2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B7F02D-FC0F-67E9-F274-3A2A1AAEE4F7}"/>
              </a:ext>
            </a:extLst>
          </p:cNvPr>
          <p:cNvSpPr/>
          <p:nvPr/>
        </p:nvSpPr>
        <p:spPr>
          <a:xfrm>
            <a:off x="4762500" y="4127500"/>
            <a:ext cx="2667000" cy="355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b="1">
                <a:solidFill>
                  <a:srgbClr val="9BAE2A"/>
                </a:solidFill>
                <a:latin typeface="Microsoft YaHei" panose="020B0503020204020204" pitchFamily="34" charset="-122"/>
              </a:rPr>
              <a:t>可验证</a:t>
            </a:r>
            <a:endParaRPr lang="en-US" b="1">
              <a:solidFill>
                <a:srgbClr val="9BAE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D87B0E-C252-2373-5C02-374D34617583}"/>
              </a:ext>
            </a:extLst>
          </p:cNvPr>
          <p:cNvSpPr/>
          <p:nvPr/>
        </p:nvSpPr>
        <p:spPr>
          <a:xfrm>
            <a:off x="8191500" y="4127500"/>
            <a:ext cx="2667000" cy="355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b="1">
                <a:solidFill>
                  <a:srgbClr val="4AA8E2"/>
                </a:solidFill>
                <a:latin typeface="Microsoft YaHei" panose="020B0503020204020204" pitchFamily="34" charset="-122"/>
              </a:rPr>
              <a:t>可运营</a:t>
            </a:r>
            <a:endParaRPr lang="en-US" b="1">
              <a:solidFill>
                <a:srgbClr val="4AA8E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B6A92D-FAC1-7143-941A-E143BB5E2EBF}"/>
              </a:ext>
            </a:extLst>
          </p:cNvPr>
          <p:cNvSpPr/>
          <p:nvPr/>
        </p:nvSpPr>
        <p:spPr>
          <a:xfrm>
            <a:off x="4953000" y="5143500"/>
            <a:ext cx="2286000" cy="5715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b="1">
                <a:solidFill>
                  <a:srgbClr val="2F3226"/>
                </a:solidFill>
                <a:latin typeface="Microsoft YaHei" panose="020B0503020204020204" pitchFamily="34" charset="-122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4004671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3305</Words>
  <Application>Microsoft Office PowerPoint</Application>
  <PresentationFormat>Custom</PresentationFormat>
  <Paragraphs>409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Microsoft YaHei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Mason Wang</dc:creator>
  <cp:lastModifiedBy>Mason Wang</cp:lastModifiedBy>
  <cp:revision>1</cp:revision>
  <dcterms:created xsi:type="dcterms:W3CDTF">2026-07-28T04:57:01Z</dcterms:created>
  <dcterms:modified xsi:type="dcterms:W3CDTF">2026-07-28T04:57:01Z</dcterms:modified>
</cp:coreProperties>
</file>